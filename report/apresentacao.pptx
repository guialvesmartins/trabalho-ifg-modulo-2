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3"/>
    <p:restoredTop sz="94610"/>
  </p:normalViewPr>
  <p:slideViewPr>
    <p:cSldViewPr snapToGrid="0" snapToObjects="1">
      <p:cViewPr>
        <p:scale>
          <a:sx n="184" d="100"/>
          <a:sy n="184" d="100"/>
        </p:scale>
        <p:origin x="136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469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6.xml.rels><?xml version="1.0" encoding="UTF-8"?>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10.png"/><Relationship Id="rId9" Type="http://schemas.openxmlformats.org/officeDocument/2006/relationships/image" Target="../media/image18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577840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803392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6028944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480048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705600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931152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7156704" y="-58522"/>
            <a:ext cx="157886" cy="66568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7382256" y="-333756"/>
            <a:ext cx="157886" cy="121615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7607808" y="18288"/>
            <a:ext cx="157886" cy="51206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7833360" y="-186538"/>
            <a:ext cx="157886" cy="92171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05891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284464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8510016" y="-96926"/>
            <a:ext cx="157886" cy="74249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735568" y="82296"/>
            <a:ext cx="157886" cy="38404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61120" y="-212141"/>
            <a:ext cx="157886" cy="97292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9186672" y="-77724"/>
            <a:ext cx="157886" cy="70408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412224" y="-301752"/>
            <a:ext cx="157886" cy="115214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37776" y="-32918"/>
            <a:ext cx="157886" cy="61447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863328" y="-173736"/>
            <a:ext cx="157886" cy="89611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0088880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0314432" y="-7315"/>
            <a:ext cx="157886" cy="56327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0539984" y="-148133"/>
            <a:ext cx="157886" cy="84490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0765536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10991088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1216640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4219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11667744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893296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12118848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640080" y="8595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INTEGRADOR · PÓS-GRADUAÇÃO EM IA APLICADA — IFG · MÓDULO 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1243584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Manutenção Preditiva Industrial com Som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14400" y="20665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· detecção de anomalia por áudio · Indústria 4.0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920240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2124222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2328203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2532185" y="2593970"/>
            <a:ext cx="142787" cy="3533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2736166" y="2655418"/>
            <a:ext cx="142787" cy="23042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2940148" y="2709184"/>
            <a:ext cx="142787" cy="122895"/>
          </a:xfrm>
          <a:prstGeom prst="roundRect">
            <a:avLst>
              <a:gd name="adj" fmla="val 22321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3144129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3348111" y="2670780"/>
            <a:ext cx="142787" cy="19970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3552092" y="2588209"/>
            <a:ext cx="142787" cy="36484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3756074" y="2693822"/>
            <a:ext cx="142787" cy="15361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60055" y="2632375"/>
            <a:ext cx="142787" cy="27651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4164037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368018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4572000" y="2659258"/>
            <a:ext cx="142787" cy="22274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775982" y="2713025"/>
            <a:ext cx="142787" cy="115214"/>
          </a:xfrm>
          <a:prstGeom prst="roundRect">
            <a:avLst>
              <a:gd name="adj" fmla="val 23810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979963" y="2624694"/>
            <a:ext cx="142787" cy="29187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83945" y="2665019"/>
            <a:ext cx="142787" cy="21122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387926" y="2597810"/>
            <a:ext cx="142787" cy="3456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591908" y="2678460"/>
            <a:ext cx="142787" cy="1843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795889" y="2636215"/>
            <a:ext cx="142787" cy="26883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5999871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6203852" y="2686141"/>
            <a:ext cx="142787" cy="16898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6407834" y="2643896"/>
            <a:ext cx="142787" cy="253472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6611815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6815797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7019778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4.205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clipes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96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features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97,98%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acurácia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147572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147572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1147572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&amp; Pipeline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3497580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3497580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497580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5847588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5847588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47588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Dashboard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Apresentação: todos os integrantes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Problema de Negócio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892040" cy="2377440"/>
          </a:xfrm>
          <a:prstGeom prst="roundRect">
            <a:avLst>
              <a:gd name="adj" fmla="val 307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75488" cy="47548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532" y="1727484"/>
            <a:ext cx="275783" cy="27578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81328" y="15910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 bomba está com anomalia?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 parar para manutenção agora?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2743200"/>
            <a:ext cx="4343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288950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Dezenas de bombas operam 24/7. Parada não programada custa caro: produção parada + reparo emergencial. Manutenção desnecessária também tem custo.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0" y="137160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852160" y="1545336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810" y="1625986"/>
            <a:ext cx="222748" cy="2227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55080" y="14630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Cenário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355080" y="17556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 real, bombas 24/7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669280" y="219456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19"/>
          <p:cNvSpPr/>
          <p:nvPr/>
        </p:nvSpPr>
        <p:spPr>
          <a:xfrm>
            <a:off x="5852160" y="2368296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810" y="2448946"/>
            <a:ext cx="222748" cy="2227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Decisor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355080" y="25786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Engenheiro de manutenção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5669280" y="301752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3"/>
          <p:cNvSpPr/>
          <p:nvPr/>
        </p:nvSpPr>
        <p:spPr>
          <a:xfrm>
            <a:off x="5852160" y="3191256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2810" y="3271906"/>
            <a:ext cx="222748" cy="2227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550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355080" y="34015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Parada × manutenção em excesso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59436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7"/>
          <p:cNvSpPr/>
          <p:nvPr/>
        </p:nvSpPr>
        <p:spPr>
          <a:xfrm>
            <a:off x="74066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271" y="4135831"/>
            <a:ext cx="159106" cy="15910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8813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paradas não programadas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329184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0"/>
          <p:cNvSpPr/>
          <p:nvPr/>
        </p:nvSpPr>
        <p:spPr>
          <a:xfrm>
            <a:off x="343814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5751" y="4135831"/>
            <a:ext cx="159106" cy="15910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78561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manutenções desnecessárias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598932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3"/>
          <p:cNvSpPr/>
          <p:nvPr/>
        </p:nvSpPr>
        <p:spPr>
          <a:xfrm>
            <a:off x="613562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3231" y="4135831"/>
            <a:ext cx="159106" cy="15910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48309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Economia em reparos emergenciais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Dados — Dataset MIMII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572000" cy="2286000"/>
          </a:xfrm>
          <a:prstGeom prst="roundRect">
            <a:avLst>
              <a:gd name="adj" fmla="val 320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44752" y="1645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reais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128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4 modelos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</a:t>
            </a: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Audios de 10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segundos</a:t>
            </a:r>
            <a:endParaRPr lang="en-US" sz="1150" dirty="0">
              <a:solidFill>
                <a:srgbClr val="A8B8D9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Ruído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real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255264"/>
            <a:ext cx="4023360" cy="329184"/>
          </a:xfrm>
          <a:prstGeom prst="roundRect">
            <a:avLst>
              <a:gd name="adj" fmla="val 22222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32552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CC BY-SA 4.0 · arXiv:1909.09347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492744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6080760" y="1657336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72200" y="2059672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de áudio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013448" y="2562592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7013448" y="272718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3.749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104888" y="3129520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funcionamento normal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67528" y="2565109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367528" y="2729701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5458968" y="313203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 anomalia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Distribuição das condições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120640" y="38770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· 89,1%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766560" y="38770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· 10,9%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4360" y="4151376"/>
            <a:ext cx="7086600" cy="256032"/>
          </a:xfrm>
          <a:prstGeom prst="roundRect">
            <a:avLst>
              <a:gd name="adj" fmla="val 17857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7680960" y="4151376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ELT — 8 Etapas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0924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80924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924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7,9 GB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7462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282092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82092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2092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2092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.wav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8630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83260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3260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260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3260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paths → CSV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69798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684428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84428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4428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4428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· 96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6294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80924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80924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924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924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 JOIN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7462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82092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82092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2092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2092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8630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483260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83260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3260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260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 · 14 testes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9798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684428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684428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4428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4428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treino &amp; </a:t>
            </a:r>
            <a:r>
              <a:rPr lang="en-US" sz="8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validação</a:t>
            </a:r>
            <a:endParaRPr lang="en-US" sz="850" dirty="0"/>
          </a:p>
        </p:txBody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1860804"/>
            <a:ext cx="137160" cy="137160"/>
          </a:xfrm>
          <a:prstGeom prst="rect">
            <a:avLst/>
          </a:prstGeom>
        </p:spPr>
      </p:pic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3250692"/>
            <a:ext cx="137160" cy="137160"/>
          </a:xfrm>
          <a:prstGeom prst="rect">
            <a:avLst/>
          </a:prstGeom>
        </p:spPr>
      </p:pic>
      <p:pic>
        <p:nvPicPr>
          <p:cNvPr id="5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860804"/>
            <a:ext cx="137160" cy="137160"/>
          </a:xfrm>
          <a:prstGeom prst="rect">
            <a:avLst/>
          </a:prstGeom>
        </p:spPr>
      </p:pic>
      <p:pic>
        <p:nvPicPr>
          <p:cNvPr id="5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3250692"/>
            <a:ext cx="137160" cy="137160"/>
          </a:xfrm>
          <a:prstGeom prst="rect">
            <a:avLst/>
          </a:prstGeom>
        </p:spPr>
      </p:pic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60804"/>
            <a:ext cx="137160" cy="137160"/>
          </a:xfrm>
          <a:prstGeom prst="rect">
            <a:avLst/>
          </a:prstGeom>
        </p:spPr>
      </p:pic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50692"/>
            <a:ext cx="137160" cy="137160"/>
          </a:xfrm>
          <a:prstGeom prst="rect">
            <a:avLst/>
          </a:prstGeom>
        </p:spPr>
      </p:pic>
      <p:pic>
        <p:nvPicPr>
          <p:cNvPr id="5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2514600"/>
            <a:ext cx="13716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e dbt — Orquestração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3040" y="16642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3317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DAG com 8 tasks sequenciais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Agenda, executa e monitora o ELT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Reexecução e retries em produção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627632"/>
            <a:ext cx="457200" cy="457200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1723644"/>
            <a:ext cx="265176" cy="26517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52160" y="16642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 — transformação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257800" y="2331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modelos: views e tables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testes de qualidade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not_null · unique · accepted_values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18872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118872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118872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</a:t>
            </a:r>
            <a:endParaRPr lang="en-US" sz="8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768" y="4087368"/>
            <a:ext cx="146304" cy="14630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297180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0"/>
          <p:cNvSpPr/>
          <p:nvPr/>
        </p:nvSpPr>
        <p:spPr>
          <a:xfrm>
            <a:off x="297180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 / Fact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297180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87368"/>
            <a:ext cx="146304" cy="14630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75488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3"/>
          <p:cNvSpPr/>
          <p:nvPr/>
        </p:nvSpPr>
        <p:spPr>
          <a:xfrm>
            <a:off x="475488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Marts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75488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087368"/>
            <a:ext cx="146304" cy="14630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653796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26"/>
          <p:cNvSpPr/>
          <p:nvPr/>
        </p:nvSpPr>
        <p:spPr>
          <a:xfrm>
            <a:off x="653796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653796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PIPELINE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Extração de Features do Áudio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010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0010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.wav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8902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111B3B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58902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(extração)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7794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794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numéricas</a:t>
            </a:r>
            <a:endParaRPr lang="en-US" sz="12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1517904"/>
            <a:ext cx="182880" cy="182880"/>
          </a:xfrm>
          <a:prstGeom prst="rect">
            <a:avLst/>
          </a:prstGeom>
        </p:spPr>
      </p:pic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1517904"/>
            <a:ext cx="182880" cy="18288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4360" y="2212848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77240" y="2340864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90" y="2421514"/>
            <a:ext cx="222748" cy="2227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9844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MFCC · 80 features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298448" y="2542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Timbre do som industrial — média e desvio de 40 coeficientes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94360" y="2816352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19"/>
          <p:cNvSpPr/>
          <p:nvPr/>
        </p:nvSpPr>
        <p:spPr>
          <a:xfrm>
            <a:off x="777240" y="2944368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90" y="3025018"/>
            <a:ext cx="222748" cy="2227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98448" y="28712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Espectrais · 11 features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1298448" y="314553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Centroid, bandwidth, rolloff e contraste em 7 bandas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594360" y="3419856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3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890" y="3628522"/>
            <a:ext cx="222748" cy="2227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Energia &amp; Ritmo · 2 features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298448" y="37490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Zero-Crossing Rate e RMS — energia e potência do sinal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349240" y="2212848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27"/>
          <p:cNvSpPr/>
          <p:nvPr/>
        </p:nvSpPr>
        <p:spPr>
          <a:xfrm>
            <a:off x="5532120" y="2359152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2770" y="2439802"/>
            <a:ext cx="222748" cy="2227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03504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 estruturados · 7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035040" y="259689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 · modelo · condição · duração · canais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5349240" y="3236976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31"/>
          <p:cNvSpPr/>
          <p:nvPr/>
        </p:nvSpPr>
        <p:spPr>
          <a:xfrm>
            <a:off x="5532120" y="3383280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2770" y="3463930"/>
            <a:ext cx="222748" cy="2227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035040" y="3310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 para ML · 103 colunas</a:t>
            </a:r>
            <a:endParaRPr lang="en-US" sz="1200" dirty="0"/>
          </a:p>
        </p:txBody>
      </p:sp>
      <p:sp>
        <p:nvSpPr>
          <p:cNvPr id="42" name="Text 33"/>
          <p:cNvSpPr/>
          <p:nvPr/>
        </p:nvSpPr>
        <p:spPr>
          <a:xfrm>
            <a:off x="6035040" y="362102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+ 7 metadados × 4.205 linhas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Modelo — Rede Neural (MLP)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68680" y="1517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686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592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8592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592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59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498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28498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498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498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404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8404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Sigmoid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404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</a:t>
            </a:r>
            <a:endParaRPr lang="en-US" sz="85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732" y="2542032"/>
            <a:ext cx="128016" cy="128016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32" y="2542032"/>
            <a:ext cx="128016" cy="128016"/>
          </a:xfrm>
          <a:prstGeom prst="rect">
            <a:avLst/>
          </a:prstGeom>
        </p:spPr>
      </p:pic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932" y="2542032"/>
            <a:ext cx="128016" cy="12801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686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MLP binário — P(anomalia) em [0,1] · threshold 0,5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13716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8"/>
          <p:cNvSpPr/>
          <p:nvPr/>
        </p:nvSpPr>
        <p:spPr>
          <a:xfrm>
            <a:off x="516636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91" y="1624523"/>
            <a:ext cx="243962" cy="24396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71500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o modelo decide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166360" y="219456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Entrada: 96 features do áudio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camadas ocultas (64 →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Saída: P(anomalia) ∈ [0,1]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 0,5 → decisão binária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166360" y="3675888"/>
            <a:ext cx="3200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2"/>
          <p:cNvSpPr/>
          <p:nvPr/>
        </p:nvSpPr>
        <p:spPr>
          <a:xfrm>
            <a:off x="5166360" y="37673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Implementado 2×: NumPy (hard-code) e sklearn.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vs Sklearn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— do zero (NumPy)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Forward: ReLU + Sigmoid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Backprop: gradientes analíticos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SGD com momento (lr 0,01 · 0,9)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Binary cross-entropy · 300 épocas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TensorFlow, PyTorch ou autograd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Sklearn — MLPClassifier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arquitetura (64,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 · max_iter 500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Regularização L2 (alpha 0,0001)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Código C otimizado (~3× mais rápido)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94360" y="3931920"/>
            <a:ext cx="795528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594360" y="396849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ReLU(W1·x + b1)  →  p = sigmoid(W2·h + b2)</a:t>
            </a:r>
            <a:endParaRPr lang="en-US" sz="11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A8B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−[ y·log(p) + (1−y)·log(1−p) 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 e Métricas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715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715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Acurácia · MLP sklearn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47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147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0,899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147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F1-Score · anomalia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579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0579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0579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· anomalias detectadas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4360" y="26060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77724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modelos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35808"/>
          <a:ext cx="429768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Acurácia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majoritária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89,18%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Regressão logística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96,79%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0,832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hard-code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97,86%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sklearn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97,98%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40680" y="26060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623560" y="2688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Matriz de confusão </a:t>
            </a: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MLP sklearn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26480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normal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296912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anomalia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623560" y="316382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26480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6126480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748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296912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7296912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623560" y="371246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126480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6126480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296912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7296912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623560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n-US" sz="7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 2 (falsos alarmes) · FN 15 (anomalias sutis — mascaradas pelo ruído de fábrica)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100% AWS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41248" y="155448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37160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brutos (.wav)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630168" y="155448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16052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3016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· orquestração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6419088" y="155448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94944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Snowflake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908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841248" y="301752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7160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Transformação + testes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900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630168" y="301752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16052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SageMaker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3016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inferência MLP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6419088" y="301752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694944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1908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BI</a:t>
            </a:r>
            <a:endParaRPr lang="en-US" sz="9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1906524"/>
            <a:ext cx="155448" cy="155448"/>
          </a:xfrm>
          <a:prstGeom prst="rect">
            <a:avLst/>
          </a:prstGeom>
        </p:spPr>
      </p:pic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3369564"/>
            <a:ext cx="155448" cy="155448"/>
          </a:xfrm>
          <a:prstGeom prst="rect">
            <a:avLst/>
          </a:prstGeom>
        </p:spPr>
      </p:pic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06524"/>
            <a:ext cx="155448" cy="155448"/>
          </a:xfrm>
          <a:prstGeom prst="rect">
            <a:avLst/>
          </a:prstGeom>
        </p:spPr>
      </p:pic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369564"/>
            <a:ext cx="155448" cy="155448"/>
          </a:xfrm>
          <a:prstGeom prst="rect">
            <a:avLst/>
          </a:prstGeom>
        </p:spPr>
      </p:pic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624328"/>
            <a:ext cx="137160" cy="13716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640080" y="4151376"/>
            <a:ext cx="786384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3"/>
          <p:cNvSpPr/>
          <p:nvPr/>
        </p:nvSpPr>
        <p:spPr>
          <a:xfrm>
            <a:off x="640080" y="415137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→ EC2 → Snowflake → dbt → SageMaker → Metabase: fluxo completo de dados e decisão.</a:t>
            </a:r>
            <a:endParaRPr lang="en-US" sz="1000" dirty="0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1632204"/>
            <a:ext cx="246888" cy="246888"/>
          </a:xfrm>
          <a:prstGeom prst="rect">
            <a:avLst/>
          </a:prstGeom>
        </p:spPr>
      </p:pic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7892" y="1632204"/>
            <a:ext cx="246888" cy="246888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812" y="1632204"/>
            <a:ext cx="246888" cy="246888"/>
          </a:xfrm>
          <a:prstGeom prst="rect">
            <a:avLst/>
          </a:prstGeom>
        </p:spPr>
      </p:pic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" y="3095244"/>
            <a:ext cx="246888" cy="246888"/>
          </a:xfrm>
          <a:prstGeom prst="rect">
            <a:avLst/>
          </a:prstGeom>
        </p:spPr>
      </p:pic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07892" y="3095244"/>
            <a:ext cx="246888" cy="246888"/>
          </a:xfrm>
          <a:prstGeom prst="rect">
            <a:avLst/>
          </a:prstGeom>
        </p:spPr>
      </p:pic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6812" y="3095244"/>
            <a:ext cx="246888" cy="2468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e Infraestrutura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— mesmo código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 por 4 variáveis de ambiente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S3: MinIO ↔ AWS (endpoint URL)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Banco: PostgreSQL ↔ Snowflake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mudanças de código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como código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CloudFormation (template YAML)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· EC2 · rede · segurança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de custos no relatório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7"/>
          <p:cNvSpPr/>
          <p:nvPr/>
        </p:nvSpPr>
        <p:spPr>
          <a:xfrm>
            <a:off x="996696" y="4014216"/>
            <a:ext cx="347472" cy="347472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665" y="4087185"/>
            <a:ext cx="201534" cy="2015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538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1 — Local (Docker)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4538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MinIO + PostgreSQL + Airflow + Metabase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9834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1"/>
          <p:cNvSpPr/>
          <p:nvPr/>
        </p:nvSpPr>
        <p:spPr>
          <a:xfrm>
            <a:off x="5111496" y="4014216"/>
            <a:ext cx="347472" cy="347472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465" y="4087185"/>
            <a:ext cx="201534" cy="20153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686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2 — Produção (AWS)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5686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+ EC2 + Snowflake + SageMaker</a:t>
            </a:r>
            <a:endParaRPr lang="en-US" sz="8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178808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DASHBOARD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e Decisão Final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75488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77724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71" y="1624523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 — visão gerencial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2240280"/>
            <a:ext cx="4251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KPIs: amostras, taxa de anomalia, duração média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 por modelo de bomba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Anomalias por modelo de máquina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e predições com erro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532120" y="1371600"/>
            <a:ext cx="301752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760720" y="15727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 de manutenção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6072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P(anomalia) &gt; 0,5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760720" y="2596896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108192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— continue operando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760720" y="3035808"/>
            <a:ext cx="237744" cy="237744"/>
          </a:xfrm>
          <a:prstGeom prst="ellipse">
            <a:avLst/>
          </a:prstGeom>
          <a:solidFill>
            <a:srgbClr val="FB718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6108192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— agende manutenção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584448"/>
            <a:ext cx="256032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760720" y="36941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engenheiro recebe o alerta no dashboard e decide com base em dados.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4360" y="4133088"/>
            <a:ext cx="795528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94360" y="413308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+ dados + ML + nuvem apoiando a decisão do engenheiro, em tempo real.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223760" y="413308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1018</Words>
  <Application>Microsoft Macintosh PowerPoint</Application>
  <PresentationFormat>Apresentação na tela (16:9)</PresentationFormat>
  <Paragraphs>252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Manutenção Preditiva Industrial com Som</dc:title>
  <dc:subject>PptxGenJS Presentation</dc:subject>
  <dc:creator>Projeto Final IFG</dc:creator>
  <cp:lastModifiedBy>Guilherme Martins</cp:lastModifiedBy>
  <cp:revision>4</cp:revision>
  <dcterms:created xsi:type="dcterms:W3CDTF">2026-08-11T00:03:57Z</dcterms:created>
  <dcterms:modified xsi:type="dcterms:W3CDTF">2026-08-13T00:09:02Z</dcterms:modified>
</cp:coreProperties>
</file>