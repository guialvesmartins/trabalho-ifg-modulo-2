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834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469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834640"/>
            <a:ext cx="6949440" cy="694944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949440" y="-173736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3291840" y="3108960"/>
            <a:ext cx="6949440" cy="694944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577840" y="5486"/>
            <a:ext cx="157886" cy="537667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803392" y="-224942"/>
            <a:ext cx="157886" cy="998525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028944" y="-45720"/>
            <a:ext cx="157886" cy="640080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254496" y="-314554"/>
            <a:ext cx="157886" cy="1177747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480048" y="-109728"/>
            <a:ext cx="157886" cy="768096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705600" y="69494"/>
            <a:ext cx="157886" cy="409651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931152" y="-237744"/>
            <a:ext cx="157886" cy="1024128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156704" y="-58522"/>
            <a:ext cx="157886" cy="665683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382256" y="-333756"/>
            <a:ext cx="157886" cy="1216152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607808" y="18288"/>
            <a:ext cx="157886" cy="512064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833360" y="-186538"/>
            <a:ext cx="157886" cy="921715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058912" y="-45720"/>
            <a:ext cx="157886" cy="640080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284464" y="-269748"/>
            <a:ext cx="157886" cy="1088136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510016" y="-96926"/>
            <a:ext cx="157886" cy="742493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735568" y="82296"/>
            <a:ext cx="157886" cy="384048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961120" y="-212141"/>
            <a:ext cx="157886" cy="972922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9186672" y="-77724"/>
            <a:ext cx="157886" cy="704088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412224" y="-301752"/>
            <a:ext cx="157886" cy="1152144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637776" y="-32918"/>
            <a:ext cx="157886" cy="614477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9863328" y="-173736"/>
            <a:ext cx="157886" cy="896112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088880" y="-269748"/>
            <a:ext cx="157886" cy="1088136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0314432" y="-7315"/>
            <a:ext cx="157886" cy="563270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0539984" y="-148133"/>
            <a:ext cx="157886" cy="844906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0765536" y="-237744"/>
            <a:ext cx="157886" cy="1024128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10991088" y="5486"/>
            <a:ext cx="157886" cy="537667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11216640" y="-224942"/>
            <a:ext cx="157886" cy="998525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1442192" y="-45720"/>
            <a:ext cx="157886" cy="640080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11667744" y="-314554"/>
            <a:ext cx="157886" cy="1177747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11893296" y="-109728"/>
            <a:ext cx="157886" cy="768096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12118848" y="69494"/>
            <a:ext cx="157886" cy="409651"/>
          </a:xfrm>
          <a:prstGeom prst="roundRect">
            <a:avLst>
              <a:gd name="adj" fmla="val 17375"/>
            </a:avLst>
          </a:prstGeom>
          <a:solidFill>
            <a:srgbClr val="22D3EE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40080" y="8595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PROJETO INTEGRADOR · PÓS-GRADUAÇÃO EM IA APLICADA — IFG · MÓDULO 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1243584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Manutenção Preditiva Industrial com Som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914400" y="20665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Bombas industriais · detecção de anomalia por áudio · Indústria 4.0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920240" y="2689982"/>
            <a:ext cx="142787" cy="161300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2124222" y="2620853"/>
            <a:ext cx="142787" cy="299557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2328203" y="2674620"/>
            <a:ext cx="142787" cy="192024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2532185" y="2593970"/>
            <a:ext cx="142787" cy="353324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2736166" y="2655418"/>
            <a:ext cx="142787" cy="230429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2940148" y="2709184"/>
            <a:ext cx="142787" cy="122895"/>
          </a:xfrm>
          <a:prstGeom prst="roundRect">
            <a:avLst>
              <a:gd name="adj" fmla="val 22321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3144129" y="2617013"/>
            <a:ext cx="142787" cy="307238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3348111" y="2670780"/>
            <a:ext cx="142787" cy="199705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3552092" y="2588209"/>
            <a:ext cx="142787" cy="364846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3756074" y="2693822"/>
            <a:ext cx="142787" cy="153619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3960055" y="2632375"/>
            <a:ext cx="142787" cy="276515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4164037" y="2674620"/>
            <a:ext cx="142787" cy="192024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4368018" y="2607412"/>
            <a:ext cx="142787" cy="326441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4572000" y="2659258"/>
            <a:ext cx="142787" cy="222748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4775982" y="2713025"/>
            <a:ext cx="142787" cy="115214"/>
          </a:xfrm>
          <a:prstGeom prst="roundRect">
            <a:avLst>
              <a:gd name="adj" fmla="val 2381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4979963" y="2624694"/>
            <a:ext cx="142787" cy="291876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5183945" y="2665019"/>
            <a:ext cx="142787" cy="211226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5387926" y="2597810"/>
            <a:ext cx="142787" cy="345643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5591908" y="2678460"/>
            <a:ext cx="142787" cy="184343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5795889" y="2636215"/>
            <a:ext cx="142787" cy="268834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5999871" y="2607412"/>
            <a:ext cx="142787" cy="326441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6203852" y="2686141"/>
            <a:ext cx="142787" cy="168981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6407834" y="2643896"/>
            <a:ext cx="142787" cy="253472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6611815" y="2617013"/>
            <a:ext cx="142787" cy="307238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6815797" y="2689982"/>
            <a:ext cx="142787" cy="161300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7019778" y="2620853"/>
            <a:ext cx="142787" cy="299557"/>
          </a:xfrm>
          <a:prstGeom prst="roundRect">
            <a:avLst>
              <a:gd name="adj" fmla="val 19212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91440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4.205 </a:t>
            </a: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clipes   ·   </a:t>
            </a:r>
            <a:r>
              <a:rPr lang="en-US" sz="11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 </a:t>
            </a: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  ·   </a:t>
            </a:r>
            <a:r>
              <a:rPr lang="en-US" sz="11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97,98% </a:t>
            </a: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acurácia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1147572" y="361188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1147572" y="37216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1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147572" y="39593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&amp; Pipeline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3497580" y="361188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3497580" y="37216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2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497580" y="39593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5847588" y="361188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5847588" y="37216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3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847588" y="39593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&amp; Dashboard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594360" y="4690872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804672" y="4608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Apresentação: todos os integrantes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8138160" y="46085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E71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834640"/>
            <a:ext cx="6949440" cy="694944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949440" y="-173736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3291840" y="3108960"/>
            <a:ext cx="6949440" cy="694944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1 · MODELAGEM DE DADOS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Problema de Negócio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4690872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04672" y="4608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Apresentam: Integrantes 1 e 2 · Pilar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46085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E71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371600"/>
            <a:ext cx="4892040" cy="2377440"/>
          </a:xfrm>
          <a:prstGeom prst="roundRect">
            <a:avLst>
              <a:gd name="adj" fmla="val 3077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68680" y="1627632"/>
            <a:ext cx="475488" cy="475488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32" y="1727484"/>
            <a:ext cx="275783" cy="27578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81328" y="15910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 bomba está com anomalia?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" y="2267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 parar para manutenção agora?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2743200"/>
            <a:ext cx="4343400" cy="0"/>
          </a:xfrm>
          <a:prstGeom prst="line">
            <a:avLst/>
          </a:prstGeom>
          <a:noFill/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868680" y="288950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Dezenas de bombas operam 24/7. Parada não programada custa caro: produção parada + reparo emergencial. Manutenção desnecessária também tem custo.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0" y="1371600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852160" y="1545336"/>
            <a:ext cx="384048" cy="384048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810" y="1625986"/>
            <a:ext cx="222748" cy="2227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355080" y="1463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Cenário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355080" y="175564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Fábrica real, bombas 24/7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669280" y="2194560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9"/>
          <p:cNvSpPr/>
          <p:nvPr/>
        </p:nvSpPr>
        <p:spPr>
          <a:xfrm>
            <a:off x="5852160" y="2368296"/>
            <a:ext cx="384048" cy="384048"/>
          </a:xfrm>
          <a:prstGeom prst="ellipse">
            <a:avLst/>
          </a:prstGeom>
          <a:solidFill>
            <a:srgbClr val="142A5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810" y="2448946"/>
            <a:ext cx="222748" cy="2227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2286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Decisor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355080" y="257860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Engenheiro de manutenção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669280" y="3017520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3"/>
          <p:cNvSpPr/>
          <p:nvPr/>
        </p:nvSpPr>
        <p:spPr>
          <a:xfrm>
            <a:off x="5852160" y="3191256"/>
            <a:ext cx="384048" cy="384048"/>
          </a:xfrm>
          <a:prstGeom prst="ellipse">
            <a:avLst/>
          </a:prstGeom>
          <a:solidFill>
            <a:srgbClr val="2A254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2810" y="3271906"/>
            <a:ext cx="222748" cy="22274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355080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Risco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355080" y="340156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Parada × manutenção em excesso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94360" y="3950208"/>
            <a:ext cx="2560320" cy="530352"/>
          </a:xfrm>
          <a:prstGeom prst="roundRect">
            <a:avLst>
              <a:gd name="adj" fmla="val 13793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27"/>
          <p:cNvSpPr/>
          <p:nvPr/>
        </p:nvSpPr>
        <p:spPr>
          <a:xfrm>
            <a:off x="740664" y="4078224"/>
            <a:ext cx="274320" cy="274320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271" y="4135831"/>
            <a:ext cx="159106" cy="15910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88136" y="3950208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paradas não programadas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3291840" y="3950208"/>
            <a:ext cx="2560320" cy="530352"/>
          </a:xfrm>
          <a:prstGeom prst="roundRect">
            <a:avLst>
              <a:gd name="adj" fmla="val 13793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0"/>
          <p:cNvSpPr/>
          <p:nvPr/>
        </p:nvSpPr>
        <p:spPr>
          <a:xfrm>
            <a:off x="3438144" y="4078224"/>
            <a:ext cx="274320" cy="274320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5751" y="4135831"/>
            <a:ext cx="159106" cy="15910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785616" y="3950208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manutenções desnecessárias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5989320" y="3950208"/>
            <a:ext cx="2560320" cy="530352"/>
          </a:xfrm>
          <a:prstGeom prst="roundRect">
            <a:avLst>
              <a:gd name="adj" fmla="val 13793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3"/>
          <p:cNvSpPr/>
          <p:nvPr/>
        </p:nvSpPr>
        <p:spPr>
          <a:xfrm>
            <a:off x="6135624" y="4078224"/>
            <a:ext cx="274320" cy="274320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3231" y="4135831"/>
            <a:ext cx="159106" cy="15910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483096" y="3950208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Economia em reparos emergenciais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834640"/>
            <a:ext cx="6949440" cy="694944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949440" y="-173736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3291840" y="3108960"/>
            <a:ext cx="6949440" cy="694944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1 · MODELAGEM DE DADOS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Dados — Dataset MIMII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4690872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04672" y="4608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Apresentam: Integrantes 1 e 2 · Pilar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46085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E71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371600"/>
            <a:ext cx="4572000" cy="2286000"/>
          </a:xfrm>
          <a:prstGeom prst="roundRect">
            <a:avLst>
              <a:gd name="adj" fmla="val 3200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68680" y="1627632"/>
            <a:ext cx="457200" cy="457200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1723644"/>
            <a:ext cx="265176" cy="2651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44752" y="1645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Bombas industriais reais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221284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modelos de </a:t>
            </a:r>
            <a:r>
              <a:rPr lang="en-US" sz="1150" dirty="0" err="1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bombas</a:t>
            </a: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Audios de 10 </a:t>
            </a:r>
            <a:r>
              <a:rPr lang="en-US" sz="1150" dirty="0" err="1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segundos</a:t>
            </a:r>
            <a:endParaRPr lang="en-US" sz="1150" dirty="0">
              <a:solidFill>
                <a:srgbClr val="A8B8D9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 err="1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Ruído</a:t>
            </a: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real de </a:t>
            </a:r>
            <a:r>
              <a:rPr lang="en-US" sz="1150" dirty="0" err="1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fábrica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68680" y="3255264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0C1530"/>
          </a:solidFill>
          <a:ln w="9525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868680" y="32552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Zenodo · CC BY-SA 4.0 · arXiv:1909.09347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80760" y="1492744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080760" y="165733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4.205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172200" y="205967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clipes de áudio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013448" y="2562592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7013448" y="27271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3.749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104888" y="312952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funcionamento normal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367528" y="2565109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5367528" y="2729701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456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458968" y="3132037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 anomalia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94360" y="38770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Distribuição das condições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120640" y="38770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 · 89,1%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766560" y="387705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anomalia · 10,9%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94360" y="4151376"/>
            <a:ext cx="7086600" cy="256032"/>
          </a:xfrm>
          <a:prstGeom prst="roundRect">
            <a:avLst>
              <a:gd name="adj" fmla="val 17857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7680960" y="4151376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834640"/>
            <a:ext cx="6949440" cy="694944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949440" y="-173736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3291840" y="3108960"/>
            <a:ext cx="6949440" cy="694944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1 · ORQUESTRAÇÃO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ELT — 8 Etapas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4690872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04672" y="4608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Apresentam: Integrantes 1 e 2 · Pilar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46085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E71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1371600"/>
            <a:ext cx="1783080" cy="1115568"/>
          </a:xfrm>
          <a:prstGeom prst="roundRect">
            <a:avLst>
              <a:gd name="adj" fmla="val 6557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09244" y="1517904"/>
            <a:ext cx="310896" cy="310896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09244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9244" y="19202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" y="2194560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Zenodo · 7,9 GB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74620" y="1371600"/>
            <a:ext cx="1783080" cy="1115568"/>
          </a:xfrm>
          <a:prstGeom prst="roundRect">
            <a:avLst>
              <a:gd name="adj" fmla="val 6557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2820924" y="1517904"/>
            <a:ext cx="310896" cy="310896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820924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20924" y="19202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20924" y="2194560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.wav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86300" y="1371600"/>
            <a:ext cx="1783080" cy="1115568"/>
          </a:xfrm>
          <a:prstGeom prst="roundRect">
            <a:avLst>
              <a:gd name="adj" fmla="val 6557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832604" y="1517904"/>
            <a:ext cx="310896" cy="310896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832604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32604" y="19202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Metadados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32604" y="2194560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paths → CSV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97980" y="1371600"/>
            <a:ext cx="1783080" cy="1115568"/>
          </a:xfrm>
          <a:prstGeom prst="roundRect">
            <a:avLst>
              <a:gd name="adj" fmla="val 6557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844284" y="1517904"/>
            <a:ext cx="310896" cy="310896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844284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44284" y="19202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44284" y="2194560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librosa · 96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2940" y="2761488"/>
            <a:ext cx="1783080" cy="1115568"/>
          </a:xfrm>
          <a:prstGeom prst="roundRect">
            <a:avLst>
              <a:gd name="adj" fmla="val 6557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809244" y="2907792"/>
            <a:ext cx="310896" cy="310896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09244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9244" y="3310128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9244" y="3584448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 JOIN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74620" y="2761488"/>
            <a:ext cx="1783080" cy="1115568"/>
          </a:xfrm>
          <a:prstGeom prst="roundRect">
            <a:avLst>
              <a:gd name="adj" fmla="val 6557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2820924" y="2907792"/>
            <a:ext cx="310896" cy="310896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2820924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20924" y="3310128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820924" y="3584448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86300" y="2761488"/>
            <a:ext cx="1783080" cy="1115568"/>
          </a:xfrm>
          <a:prstGeom prst="roundRect">
            <a:avLst>
              <a:gd name="adj" fmla="val 6557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4832604" y="2907792"/>
            <a:ext cx="310896" cy="310896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832604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32604" y="3310128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32604" y="3584448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modelos · 14 testes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697980" y="2761488"/>
            <a:ext cx="1783080" cy="1115568"/>
          </a:xfrm>
          <a:prstGeom prst="roundRect">
            <a:avLst>
              <a:gd name="adj" fmla="val 6557"/>
            </a:avLst>
          </a:prstGeom>
          <a:solidFill>
            <a:srgbClr val="0E17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6844284" y="2907792"/>
            <a:ext cx="310896" cy="310896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844284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44284" y="3310128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44284" y="3584448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treino &amp; </a:t>
            </a:r>
            <a:r>
              <a:rPr lang="en-US" sz="850" dirty="0" err="1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</a:t>
            </a:r>
            <a:endParaRPr lang="en-US" sz="850" dirty="0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1860804"/>
            <a:ext cx="137160" cy="137160"/>
          </a:xfrm>
          <a:prstGeom prst="rect">
            <a:avLst/>
          </a:prstGeom>
        </p:spPr>
      </p:pic>
      <p:pic>
        <p:nvPicPr>
          <p:cNvPr id="5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3250692"/>
            <a:ext cx="137160" cy="137160"/>
          </a:xfrm>
          <a:prstGeom prst="rect">
            <a:avLst/>
          </a:prstGeom>
        </p:spPr>
      </p:pic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860804"/>
            <a:ext cx="137160" cy="137160"/>
          </a:xfrm>
          <a:prstGeom prst="rect">
            <a:avLst/>
          </a:prstGeom>
        </p:spPr>
      </p:pic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3250692"/>
            <a:ext cx="137160" cy="137160"/>
          </a:xfrm>
          <a:prstGeom prst="rect">
            <a:avLst/>
          </a:prstGeom>
        </p:spPr>
      </p:pic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860804"/>
            <a:ext cx="137160" cy="137160"/>
          </a:xfrm>
          <a:prstGeom prst="rect">
            <a:avLst/>
          </a:prstGeom>
        </p:spPr>
      </p:pic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3250692"/>
            <a:ext cx="137160" cy="137160"/>
          </a:xfrm>
          <a:prstGeom prst="rect">
            <a:avLst/>
          </a:prstGeom>
        </p:spPr>
      </p:pic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2514600"/>
            <a:ext cx="1371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834640"/>
            <a:ext cx="6949440" cy="694944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949440" y="-173736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3291840" y="3108960"/>
            <a:ext cx="6949440" cy="694944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1 · ORQUESTRAÇÃO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 e dbt — Orquestração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4690872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04672" y="4608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Apresentam: Integrantes 1 e 2 · Pilar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46085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E71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371600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68680" y="1627632"/>
            <a:ext cx="457200" cy="457200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1723644"/>
            <a:ext cx="265176" cy="2651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63040" y="16642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Airflow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" y="2331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DAG com 8 tasks sequenciais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Agenda, executa e monitora o ELT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Reexecução e retries em produção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983480" y="13716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257800" y="1627632"/>
            <a:ext cx="457200" cy="457200"/>
          </a:xfrm>
          <a:prstGeom prst="ellipse">
            <a:avLst/>
          </a:prstGeom>
          <a:solidFill>
            <a:srgbClr val="142A5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812" y="1723644"/>
            <a:ext cx="265176" cy="2651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52160" y="16642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dbt — transformação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257800" y="23317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modelos: views e tables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testes de qualidade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not_null · unique · accepted_values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1188720" y="3895344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1188720" y="39410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1188720" y="41970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</a:t>
            </a:r>
            <a:endParaRPr lang="en-US" sz="8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5768" y="4087368"/>
            <a:ext cx="146304" cy="14630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2971800" y="3895344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/>
          <p:nvPr/>
        </p:nvSpPr>
        <p:spPr>
          <a:xfrm>
            <a:off x="2971800" y="39410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 / Fact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2971800" y="41970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</a:t>
            </a:r>
            <a:endParaRPr lang="en-US" sz="8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087368"/>
            <a:ext cx="146304" cy="14630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754880" y="3895344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3"/>
          <p:cNvSpPr/>
          <p:nvPr/>
        </p:nvSpPr>
        <p:spPr>
          <a:xfrm>
            <a:off x="4754880" y="39410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Marts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754880" y="41970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</a:t>
            </a:r>
            <a:endParaRPr lang="en-US" sz="8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087368"/>
            <a:ext cx="146304" cy="146304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6537960" y="3895344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0E17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6"/>
          <p:cNvSpPr/>
          <p:nvPr/>
        </p:nvSpPr>
        <p:spPr>
          <a:xfrm>
            <a:off x="6537960" y="39410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6537960" y="41970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834640"/>
            <a:ext cx="6949440" cy="694944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949440" y="-173736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3291840" y="3108960"/>
            <a:ext cx="6949440" cy="694944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1 · PIPELINE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Extração de Features do Áudio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4690872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04672" y="4608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Apresentam: Integrantes 1 e 2 · Pilar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46085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E71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0100" y="1298448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00100" y="12984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Áudio .wav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89020" y="1298448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111B3B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589020" y="12984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librosa (extração)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77940" y="1298448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377940" y="12984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 features numéricas</a:t>
            </a:r>
            <a:endParaRPr lang="en-US" sz="12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1517904"/>
            <a:ext cx="182880" cy="182880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1517904"/>
            <a:ext cx="182880" cy="1828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94360" y="2212848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777240" y="2340864"/>
            <a:ext cx="384048" cy="384048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90" y="2421514"/>
            <a:ext cx="222748" cy="2227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98448" y="2267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MFCC · 80 features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298448" y="2542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Timbre do som industrial — média e desvio de 40 coeficientes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94360" y="2816352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777240" y="2944368"/>
            <a:ext cx="384048" cy="384048"/>
          </a:xfrm>
          <a:prstGeom prst="ellipse">
            <a:avLst/>
          </a:prstGeom>
          <a:solidFill>
            <a:srgbClr val="142A5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90" y="3025018"/>
            <a:ext cx="222748" cy="2227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98448" y="2871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Espectrais · 11 features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298448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Centroid, bandwidth, rolloff e contraste em 7 bandas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94360" y="3419856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777240" y="3547872"/>
            <a:ext cx="384048" cy="384048"/>
          </a:xfrm>
          <a:prstGeom prst="ellipse">
            <a:avLst/>
          </a:prstGeom>
          <a:solidFill>
            <a:srgbClr val="2A254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890" y="3628522"/>
            <a:ext cx="222748" cy="2227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98448" y="3474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Energia &amp; Ritmo · 2 features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1298448" y="3749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Zero-Crossing Rate e RMS — energia e potência do sinal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5349240" y="2212848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27"/>
          <p:cNvSpPr/>
          <p:nvPr/>
        </p:nvSpPr>
        <p:spPr>
          <a:xfrm>
            <a:off x="5532120" y="2359152"/>
            <a:ext cx="384048" cy="384048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2770" y="2439802"/>
            <a:ext cx="222748" cy="2227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03504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Metadados estruturados · 7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035040" y="259689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 · modelo · condição · duração · canais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5349240" y="3236976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0E17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1"/>
          <p:cNvSpPr/>
          <p:nvPr/>
        </p:nvSpPr>
        <p:spPr>
          <a:xfrm>
            <a:off x="5532120" y="3383280"/>
            <a:ext cx="384048" cy="384048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2770" y="3463930"/>
            <a:ext cx="222748" cy="22274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035040" y="3310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para ML · 103 colunas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6035040" y="362102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 features + 7 metadados × 4.205 linhas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834640"/>
            <a:ext cx="6949440" cy="694944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949440" y="-173736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3291840" y="3108960"/>
            <a:ext cx="6949440" cy="694944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2 · MACHINE LEARNING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Modelo — Rede Neural (MLP)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4690872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04672" y="4608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Apresenta: Integrante 3 · Pilar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46085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E71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371600"/>
            <a:ext cx="4206240" cy="2788920"/>
          </a:xfrm>
          <a:prstGeom prst="roundRect">
            <a:avLst>
              <a:gd name="adj" fmla="val 2623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68680" y="15179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1874520"/>
            <a:ext cx="731520" cy="1481328"/>
          </a:xfrm>
          <a:prstGeom prst="roundRect">
            <a:avLst>
              <a:gd name="adj" fmla="val 10000"/>
            </a:avLst>
          </a:prstGeom>
          <a:solidFill>
            <a:srgbClr val="0C1530"/>
          </a:solidFill>
          <a:ln w="152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68680" y="2103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26974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29626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59280" y="1874520"/>
            <a:ext cx="731520" cy="1481328"/>
          </a:xfrm>
          <a:prstGeom prst="roundRect">
            <a:avLst>
              <a:gd name="adj" fmla="val 10000"/>
            </a:avLst>
          </a:prstGeom>
          <a:solidFill>
            <a:srgbClr val="0C1530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859280" y="2103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59280" y="26974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ReLU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59280" y="29626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oculta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849880" y="1874520"/>
            <a:ext cx="731520" cy="1481328"/>
          </a:xfrm>
          <a:prstGeom prst="roundRect">
            <a:avLst>
              <a:gd name="adj" fmla="val 10000"/>
            </a:avLst>
          </a:prstGeom>
          <a:solidFill>
            <a:srgbClr val="0C1530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2849880" y="2103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849880" y="26974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ReLU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49880" y="29626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oculta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0" y="1874520"/>
            <a:ext cx="731520" cy="1481328"/>
          </a:xfrm>
          <a:prstGeom prst="roundRect">
            <a:avLst>
              <a:gd name="adj" fmla="val 10000"/>
            </a:avLst>
          </a:prstGeom>
          <a:solidFill>
            <a:srgbClr val="0C1530"/>
          </a:solidFill>
          <a:ln w="152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840480" y="2103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840480" y="26974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Sigmoid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0" y="29626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saída</a:t>
            </a:r>
            <a:endParaRPr lang="en-US" sz="85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732" y="2542032"/>
            <a:ext cx="128016" cy="128016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332" y="2542032"/>
            <a:ext cx="128016" cy="128016"/>
          </a:xfrm>
          <a:prstGeom prst="rect">
            <a:avLst/>
          </a:prstGeom>
        </p:spPr>
      </p:pic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932" y="2542032"/>
            <a:ext cx="128016" cy="12801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686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MLP binário — P(anomalia) em [0,1] · threshold 0,5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983480" y="137160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28"/>
          <p:cNvSpPr/>
          <p:nvPr/>
        </p:nvSpPr>
        <p:spPr>
          <a:xfrm>
            <a:off x="5166360" y="1536192"/>
            <a:ext cx="420624" cy="420624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691" y="1624523"/>
            <a:ext cx="243962" cy="24396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71500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o modelo decide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5166360" y="219456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Entrada: 96 features do áudio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camadas ocultas (64 → 32)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Saída: P(anomalia) ∈ [0,1]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 0,5 → decisão binária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5166360" y="3675888"/>
            <a:ext cx="3200400" cy="0"/>
          </a:xfrm>
          <a:prstGeom prst="line">
            <a:avLst/>
          </a:prstGeom>
          <a:noFill/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2"/>
          <p:cNvSpPr/>
          <p:nvPr/>
        </p:nvSpPr>
        <p:spPr>
          <a:xfrm>
            <a:off x="5166360" y="37673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Implementado 2×: NumPy (hard-code) e sklearn.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834640"/>
            <a:ext cx="6949440" cy="694944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949440" y="-173736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3291840" y="3108960"/>
            <a:ext cx="6949440" cy="694944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2 · MACHINE LEARNING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Hard-Code vs Sklearn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4690872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04672" y="4608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Apresenta: Integrante 3 · Pilar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46085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E71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371600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68680" y="1572768"/>
            <a:ext cx="420624" cy="420624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11" y="1661099"/>
            <a:ext cx="243962" cy="24396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17320" y="16093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Hard-code — do zero (NumPy)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2240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Forward: ReLU + Sigmoid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Backprop: gradientes analíticos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SGD com momento (lr 0,01 · 0,9)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cross-entropy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TensorFlow, PyTorch ou autograd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983480" y="13716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257800" y="1572768"/>
            <a:ext cx="420624" cy="420624"/>
          </a:xfrm>
          <a:prstGeom prst="ellipse">
            <a:avLst/>
          </a:prstGeom>
          <a:solidFill>
            <a:srgbClr val="142A5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131" y="1661099"/>
            <a:ext cx="243962" cy="24396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06440" y="1609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Sklearn — MLPClassifier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257800" y="2240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arquitetura (64, 32)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Adam · max_iter 500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Regularização L2 (alpha 0,0001)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C otimizado (~3× mais rápido)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94360" y="3931920"/>
            <a:ext cx="7955280" cy="566928"/>
          </a:xfrm>
          <a:prstGeom prst="roundRect">
            <a:avLst>
              <a:gd name="adj" fmla="val 12903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594360" y="3968496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ReLU(W1·x + b1)  →  p = sigmoid(W2·h + b2)</a:t>
            </a:r>
            <a:endParaRPr lang="en-US" sz="11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A8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−[ y·log(p) + (1−y)·log(1−p) 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834640"/>
            <a:ext cx="6949440" cy="694944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949440" y="-173736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3291840" y="3108960"/>
            <a:ext cx="6949440" cy="694944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2 · MACHINE LEARNING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 e Métricas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4690872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04672" y="4608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Apresenta: Integrante 3 · Pilar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46085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E71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1500" y="13716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71500" y="151790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97,98%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71500" y="19568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Acurácia · MLP sklearn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4700" y="13716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314700" y="151790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0,899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14700" y="19568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F1-Score · anomalia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57900" y="13716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057900" y="151790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83,5%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57900" y="19568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 · anomalias detectadas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260604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77240" y="2724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Comparação entre modelos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035808"/>
          <a:ext cx="4297680" cy="10972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1F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1F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Acurácia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1F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8B8D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Baseline majoritária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A8B8D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89,18%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A8B8D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A8B8D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MLP hard-code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A8B8D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97,86%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A8B8D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0,894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1F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MLP sklearn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97,98%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0,899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40680" y="260604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623560" y="26883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Matriz de confusão </a:t>
            </a:r>
            <a:r>
              <a:rPr lang="en-US" sz="10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MLP sklearn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126480" y="29626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Predito normal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296912" y="29626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Predito anomalia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623560" y="316382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</a:t>
            </a:r>
            <a:endParaRPr lang="en-US" sz="800" dirty="0"/>
          </a:p>
          <a:p>
            <a:pPr marL="0" indent="0" algn="r">
              <a:buNone/>
            </a:pPr>
            <a:r>
              <a:rPr lang="en-US" sz="8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26480" y="3163824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0C1530"/>
          </a:solidFill>
          <a:ln w="9525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6126480" y="3163824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748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296912" y="3163824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0C1530"/>
          </a:solidFill>
          <a:ln w="9525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7296912" y="3163824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623560" y="371246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</a:t>
            </a:r>
            <a:endParaRPr lang="en-US" sz="800" dirty="0"/>
          </a:p>
          <a:p>
            <a:pPr marL="0" indent="0" algn="r">
              <a:buNone/>
            </a:pPr>
            <a:r>
              <a:rPr lang="en-US" sz="8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anomalia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126480" y="3712464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0C1530"/>
          </a:solidFill>
          <a:ln w="9525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6126480" y="3712464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296912" y="3712464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0C1530"/>
          </a:solidFill>
          <a:ln w="9525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7296912" y="3712464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623560" y="42245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7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 2 (falsos alarmes) · FN 15 (anomalias sutis — mascaradas pelo ruído de fábrica)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834640"/>
            <a:ext cx="6949440" cy="694944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949440" y="-173736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3291840" y="3108960"/>
            <a:ext cx="6949440" cy="694944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3 · CLOUD COMPUTING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100% AWS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4690872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04672" y="4608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Apresenta: Integrante 4 · Pilar 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46085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E71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371600"/>
            <a:ext cx="2286000" cy="1225296"/>
          </a:xfrm>
          <a:prstGeom prst="roundRect">
            <a:avLst>
              <a:gd name="adj" fmla="val 5970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41248" y="1554480"/>
            <a:ext cx="402336" cy="402336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371600" y="15910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215798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brutos (.wav)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29000" y="1371600"/>
            <a:ext cx="2286000" cy="1225296"/>
          </a:xfrm>
          <a:prstGeom prst="roundRect">
            <a:avLst>
              <a:gd name="adj" fmla="val 5970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630168" y="1554480"/>
            <a:ext cx="402336" cy="402336"/>
          </a:xfrm>
          <a:prstGeom prst="ellipse">
            <a:avLst/>
          </a:prstGeom>
          <a:solidFill>
            <a:srgbClr val="142A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160520" y="15910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30168" y="215798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 · orquestração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2286000" cy="1225296"/>
          </a:xfrm>
          <a:prstGeom prst="roundRect">
            <a:avLst>
              <a:gd name="adj" fmla="val 5970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419088" y="1554480"/>
            <a:ext cx="402336" cy="402336"/>
          </a:xfrm>
          <a:prstGeom prst="ellipse">
            <a:avLst/>
          </a:prstGeom>
          <a:solidFill>
            <a:srgbClr val="2A2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949440" y="15910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Snowflake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19088" y="215798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warehouse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2834640"/>
            <a:ext cx="2286000" cy="1225296"/>
          </a:xfrm>
          <a:prstGeom prst="roundRect">
            <a:avLst>
              <a:gd name="adj" fmla="val 5970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841248" y="3017520"/>
            <a:ext cx="402336" cy="402336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371600" y="3054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1248" y="362102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Transformação + testes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29000" y="2834640"/>
            <a:ext cx="2286000" cy="1225296"/>
          </a:xfrm>
          <a:prstGeom prst="roundRect">
            <a:avLst>
              <a:gd name="adj" fmla="val 5970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3630168" y="3017520"/>
            <a:ext cx="402336" cy="402336"/>
          </a:xfrm>
          <a:prstGeom prst="ellipse">
            <a:avLst/>
          </a:prstGeom>
          <a:solidFill>
            <a:srgbClr val="142A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160520" y="3054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SageMaker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630168" y="362102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Treino &amp; inferência MLP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834640"/>
            <a:ext cx="2286000" cy="1225296"/>
          </a:xfrm>
          <a:prstGeom prst="roundRect">
            <a:avLst>
              <a:gd name="adj" fmla="val 5970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419088" y="3017520"/>
            <a:ext cx="402336" cy="402336"/>
          </a:xfrm>
          <a:prstGeom prst="ellipse">
            <a:avLst/>
          </a:prstGeom>
          <a:solidFill>
            <a:srgbClr val="2A2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949440" y="3054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Metabase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19088" y="362102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BI</a:t>
            </a:r>
            <a:endParaRPr lang="en-US" sz="95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16" y="1906524"/>
            <a:ext cx="155448" cy="155448"/>
          </a:xfrm>
          <a:prstGeom prst="rect">
            <a:avLst/>
          </a:prstGeom>
        </p:spPr>
      </p:pic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16" y="3369564"/>
            <a:ext cx="155448" cy="155448"/>
          </a:xfrm>
          <a:prstGeom prst="rect">
            <a:avLst/>
          </a:prstGeom>
        </p:spPr>
      </p:pic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1906524"/>
            <a:ext cx="155448" cy="155448"/>
          </a:xfrm>
          <a:prstGeom prst="rect">
            <a:avLst/>
          </a:prstGeom>
        </p:spPr>
      </p:pic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3369564"/>
            <a:ext cx="155448" cy="155448"/>
          </a:xfrm>
          <a:prstGeom prst="rect">
            <a:avLst/>
          </a:prstGeom>
        </p:spPr>
      </p:pic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340" y="2624328"/>
            <a:ext cx="137160" cy="13716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640080" y="4151376"/>
            <a:ext cx="7863840" cy="329184"/>
          </a:xfrm>
          <a:prstGeom prst="roundRect">
            <a:avLst>
              <a:gd name="adj" fmla="val 22222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3"/>
          <p:cNvSpPr/>
          <p:nvPr/>
        </p:nvSpPr>
        <p:spPr>
          <a:xfrm>
            <a:off x="640080" y="415137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→ EC2 → Snowflake → dbt → SageMaker → Metabase: fluxo completo de dados e decisão.</a:t>
            </a:r>
            <a:endParaRPr lang="en-US" sz="10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1632204"/>
            <a:ext cx="246888" cy="246888"/>
          </a:xfrm>
          <a:prstGeom prst="rect">
            <a:avLst/>
          </a:prstGeom>
        </p:spPr>
      </p:pic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7892" y="1632204"/>
            <a:ext cx="246888" cy="246888"/>
          </a:xfrm>
          <a:prstGeom prst="rect">
            <a:avLst/>
          </a:prstGeom>
        </p:spPr>
      </p:pic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812" y="1632204"/>
            <a:ext cx="246888" cy="246888"/>
          </a:xfrm>
          <a:prstGeom prst="rect">
            <a:avLst/>
          </a:prstGeom>
        </p:spPr>
      </p:pic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2" y="3095244"/>
            <a:ext cx="246888" cy="246888"/>
          </a:xfrm>
          <a:prstGeom prst="rect">
            <a:avLst/>
          </a:prstGeom>
        </p:spPr>
      </p:pic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7892" y="3095244"/>
            <a:ext cx="246888" cy="246888"/>
          </a:xfrm>
          <a:prstGeom prst="rect">
            <a:avLst/>
          </a:prstGeom>
        </p:spPr>
      </p:pic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6812" y="3095244"/>
            <a:ext cx="246888" cy="2468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834640"/>
            <a:ext cx="6949440" cy="694944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949440" y="-173736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3291840" y="3108960"/>
            <a:ext cx="6949440" cy="694944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3 · CLOUD COMPUTING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↔ Prod e Infraestrutura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4690872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04672" y="4608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Apresenta: Integrante 4 · Pilar 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46085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E71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371600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68680" y="1572768"/>
            <a:ext cx="420624" cy="420624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11" y="1661099"/>
            <a:ext cx="243962" cy="24396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17320" y="16093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↔ Prod — mesmo código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2240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 por 4 variáveis de ambiente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S3: MinIO ↔ AWS (endpoint URL)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Banco: PostgreSQL ↔ Snowflake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mudanças de código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983480" y="13716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257800" y="1572768"/>
            <a:ext cx="420624" cy="420624"/>
          </a:xfrm>
          <a:prstGeom prst="ellipse">
            <a:avLst/>
          </a:prstGeom>
          <a:solidFill>
            <a:srgbClr val="142A5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131" y="1661099"/>
            <a:ext cx="243962" cy="24396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06440" y="16093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Infraestrutura como código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257800" y="2240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CloudFormation (template YAML)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· EC2 · rede · segurança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de custos no relatório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68680" y="3913632"/>
            <a:ext cx="3291840" cy="530352"/>
          </a:xfrm>
          <a:prstGeom prst="roundRect">
            <a:avLst>
              <a:gd name="adj" fmla="val 13793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996696" y="4014216"/>
            <a:ext cx="347472" cy="347472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665" y="4087185"/>
            <a:ext cx="201534" cy="20153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53896" y="395020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Ambiente 1 — Local (Docker)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1453896" y="420624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MinIO + PostgreSQL + Airflow + Metabase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983480" y="3913632"/>
            <a:ext cx="3291840" cy="530352"/>
          </a:xfrm>
          <a:prstGeom prst="roundRect">
            <a:avLst>
              <a:gd name="adj" fmla="val 13793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1"/>
          <p:cNvSpPr/>
          <p:nvPr/>
        </p:nvSpPr>
        <p:spPr>
          <a:xfrm>
            <a:off x="5111496" y="4014216"/>
            <a:ext cx="347472" cy="347472"/>
          </a:xfrm>
          <a:prstGeom prst="ellipse">
            <a:avLst/>
          </a:prstGeom>
          <a:solidFill>
            <a:srgbClr val="142A5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465" y="4087185"/>
            <a:ext cx="201534" cy="20153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68696" y="395020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Ambiente 2 — Produção (AWS)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568696" y="420624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+ EC2 + Snowflake + SageMaker</a:t>
            </a:r>
            <a:endParaRPr lang="en-US" sz="85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4178808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834640"/>
            <a:ext cx="6949440" cy="694944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949440" y="-173736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3291840" y="3108960"/>
            <a:ext cx="6949440" cy="694944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3 · DASHBOARD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e Decisão Final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4690872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04672" y="4608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Apresenta: Integrante 4 · Pilar 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46085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E71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371600"/>
            <a:ext cx="4754880" cy="2697480"/>
          </a:xfrm>
          <a:prstGeom prst="roundRect">
            <a:avLst>
              <a:gd name="adj" fmla="val 2712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77240" y="1536192"/>
            <a:ext cx="420624" cy="420624"/>
          </a:xfrm>
          <a:prstGeom prst="ellipse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71" y="1624523"/>
            <a:ext cx="243962" cy="24396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572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Metabase — visão gerencial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2240280"/>
            <a:ext cx="4251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KPIs: amostras, taxa de anomalia, duração média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 por modelo de bomba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Anomalias por modelo de máquina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Matriz de confusão e predições com erro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32120" y="1371600"/>
            <a:ext cx="3017520" cy="2697480"/>
          </a:xfrm>
          <a:prstGeom prst="roundRect">
            <a:avLst>
              <a:gd name="adj" fmla="val 2712"/>
            </a:avLst>
          </a:prstGeom>
          <a:solidFill>
            <a:srgbClr val="111B3B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760720" y="15727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Decisão de manutenção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760720" y="19568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P(anomalia) &gt; 0,5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760720" y="2596896"/>
            <a:ext cx="237744" cy="23774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108192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 — continue operando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760720" y="3035808"/>
            <a:ext cx="237744" cy="237744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108192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Anomalia — agende manutenção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760720" y="3584448"/>
            <a:ext cx="2560320" cy="0"/>
          </a:xfrm>
          <a:prstGeom prst="line">
            <a:avLst/>
          </a:prstGeom>
          <a:noFill/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760720" y="3694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engenheiro recebe o alerta no dashboard e decide com base em dados.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94360" y="4133088"/>
            <a:ext cx="7955280" cy="329184"/>
          </a:xfrm>
          <a:prstGeom prst="roundRect">
            <a:avLst>
              <a:gd name="adj" fmla="val 22222"/>
            </a:avLst>
          </a:prstGeom>
          <a:solidFill>
            <a:srgbClr val="0E1733"/>
          </a:solidFill>
          <a:ln w="12700">
            <a:solidFill>
              <a:srgbClr val="1E2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594360" y="413308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Áudio + dados + ML + nuvem apoiando a decisão do engenheiro, em tempo real.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223760" y="41330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Obrigado!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1010</Words>
  <Application>Microsoft Office PowerPoint</Application>
  <PresentationFormat>Apresentação na tela (16:9)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Consolas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Manutenção Preditiva Industrial com Som</dc:title>
  <dc:subject>PptxGenJS Presentation</dc:subject>
  <dc:creator>Projeto Final IFG</dc:creator>
  <cp:lastModifiedBy>Daniel Flávio</cp:lastModifiedBy>
  <cp:revision>5</cp:revision>
  <dcterms:created xsi:type="dcterms:W3CDTF">2026-08-11T00:03:57Z</dcterms:created>
  <dcterms:modified xsi:type="dcterms:W3CDTF">2026-08-15T19:33:34Z</dcterms:modified>
</cp:coreProperties>
</file>