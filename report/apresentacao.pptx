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(4 integrantes). Tema: IA escuta o som de bombas industriais e responde: esta bomba está com anomalia? Tecnologias: MIMII Pump, MLP (hard-code + sklearn), Airflow, dbt, AWS/Snowflake, Metabase.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Contexto: fábrica com dezenas de bombas 24/7; parada não programada custa caro. Solução: classificação binária pelo som (normal x anomalia: contaminação, vazamento, desbalanceamento). Decisão apoiada: parar ou não para manutenção. Impacto: menos paradas e menos manutenções desnecessárias.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Dados: MIMII (Hitachi/Toyota, Zenodo) — 4.205 clipes de 10s de bombas reais com ruído de fábrica a 0 dB SNR. Estruturados (metadados dos paths) + não estruturados (áudio .wav). Desbalanceamento ~8:1; 4 modelos de bomba. 7,87 GB.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5 blocos: storage (MinIO/S3), banco (PostgreSQL/Snowflake), Airflow, dbt e Metabase. O ambiente Docker espelha a AWS. Troca dev-&gt;prod com apenas 4 variáveis no .env (endpoint boto3 + target dbt).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etapas sequenciais orquestradas por uma DAG do Airflow: download -&gt; upload S3 -&gt; metadados -&gt; features -&gt; merge -&gt; carga -&gt; dbt run -&gt; dbt test -&gt; treino/avaliação. Reproduzível via make ou disparo manual do DAG.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as tabelas/modelos do dbt: staging (views de limpeza), dim_machines, fact_audio_analysis e o mart ml_features pronto para ML. 16 testes de qualidade (not_null, unique, accepted_values) — dbt test aprovado como evidência. Em prod os mesmos modelos rodam no Snowflake.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áudio bruto vira números com librosa: 80 MFCC (média+desvio), 12 espectrais (centroid, bandwidth, rolloff, contraste), 2 de energia/ritmo (ZCR, RMS) = 92 features + 6 metadados = 96 por clip. Tudo rastreável pelo file_id até a predição.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Rede 96-64-32-1, 8.321 parâmetros. Duas implementações exigidas: hard-code 100% NumPy (forward/backprop, SGD com momento, BCE) e MLPClassifier do sklearn (Adam, L2). Comparadas no mesmo split com dois baselines (majoritária e regressão logística).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no teste (841 amostras): MLP sklearn 97,98% de acurácia, precisão 97,4%, recall de anomalia 83,5%, F1 0,899. O baseline majoritário engana (89% de acurácia, recall 0). Matriz: 748 verdadeiros normais, 2 FP, 15 FN (erro dominante: anomalias sutis mascaradas pelo ruído de 0 dB).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dashboards criados automaticamente via API: Visão Geral, Análise por Modelo e Resultados do ML. Filtro analítico {{model_id}} permite recortar por bomba. Apoia a decisão: filtrar o modelo, priorizar inspeções pela energia (RMS) e consultar a confiabilidade antes de parar 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Infra como código: CloudFormation define VPC, S3, EC2 (Airflow), SageMaker, CloudWatch e IAM. Prod: Snowflake como data warehouse. Custo acadêmico ~US$40/mês. Switch dev-&gt;prod só muda 4 variáveis do .env.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que foi entregue (pipeline reprodutível, MLP hard-code + sklearn, dashboard, CloudFormation) e próximos passos (deploy real AWS/Snowflake com evidências, novos tipos de máquina, k-fold, SageMaker, drift). Agradecer. Evidências de execução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787481"/>
            <a:ext cx="228410" cy="53767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723454" y="741396"/>
            <a:ext cx="228410" cy="99852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83867" y="687629"/>
            <a:ext cx="228410" cy="153619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44281" y="649224"/>
            <a:ext cx="228410" cy="192024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04694" y="679948"/>
            <a:ext cx="228410" cy="161300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65108" y="726034"/>
            <a:ext cx="228410" cy="115214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25521" y="764438"/>
            <a:ext cx="228410" cy="7681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85935" y="779800"/>
            <a:ext cx="228410" cy="61448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46348" y="741396"/>
            <a:ext cx="228410" cy="99852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06762" y="687629"/>
            <a:ext cx="228410" cy="153619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7175" y="641543"/>
            <a:ext cx="228410" cy="199705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27589" y="710672"/>
            <a:ext cx="228410" cy="130576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88002" y="772119"/>
            <a:ext cx="228410" cy="69129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8416" y="787481"/>
            <a:ext cx="228410" cy="53767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08829" y="733715"/>
            <a:ext cx="228410" cy="107533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69242" y="672267"/>
            <a:ext cx="228410" cy="168981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29656" y="626181"/>
            <a:ext cx="228410" cy="215067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90070" y="664586"/>
            <a:ext cx="228410" cy="176662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0483" y="726034"/>
            <a:ext cx="228410" cy="115214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10897" y="764438"/>
            <a:ext cx="228410" cy="76810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1310" y="710672"/>
            <a:ext cx="228410" cy="130576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1724" y="656905"/>
            <a:ext cx="228410" cy="184343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92137" y="618500"/>
            <a:ext cx="228410" cy="222748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52551" y="695310"/>
            <a:ext cx="228410" cy="145938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1143000"/>
            <a:ext cx="78638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en-US" sz="36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36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COM SOM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1188720" y="2697480"/>
            <a:ext cx="6766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escuta o som de bombas industriais e responde automaticamente:</a:t>
            </a:r>
            <a:endParaRPr lang="en-US" sz="15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“esta bomba está operando com anomalia?”</a:t>
            </a:r>
            <a:endParaRPr lang="en-US" sz="1550" dirty="0"/>
          </a:p>
        </p:txBody>
      </p:sp>
      <p:sp>
        <p:nvSpPr>
          <p:cNvPr id="28" name="Shape 26"/>
          <p:cNvSpPr/>
          <p:nvPr/>
        </p:nvSpPr>
        <p:spPr>
          <a:xfrm>
            <a:off x="800100" y="3840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0100" y="3840480"/>
            <a:ext cx="10789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MIMII Pump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025396" y="38404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25396" y="3840480"/>
            <a:ext cx="2148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hard-code + sklearn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20540" y="384048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20540" y="3840480"/>
            <a:ext cx="1325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dbt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92724" y="3840480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92724" y="3840480"/>
            <a:ext cx="1490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+ Snowflake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29500" y="3840480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8000"/>
            </a:srgbClr>
          </a:solidFill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29500" y="3840480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14400" y="4526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Pós-Graduação em Inteligência Artificial Aplicada · Módulo 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de Negócio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178308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7043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— fábrica 24/7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55448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Dezenas de bombas industriais 24/7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não programada: produção parada + reparo caro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por precaução também tem custo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1783080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17043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proposta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55448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analisa o som de cada bomba em operação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 em tempo real: normal ou anomalia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Anomalias: contaminação, vazamento, desbalanceamento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017520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apoiada:  </a:t>
            </a:r>
            <a:pPr indent="0" marL="0">
              <a:buNone/>
            </a:pPr>
            <a:r>
              <a:rPr lang="en-US" sz="1500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“Esta bomba está com anomalia? Devo parar para manutenção agora?”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913632"/>
            <a:ext cx="19751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986784"/>
            <a:ext cx="1792224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Paradas não programadas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reduzidas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42032" y="3913632"/>
            <a:ext cx="19751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33472" y="3986784"/>
            <a:ext cx="1792224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Manutenções desnecessárias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evitadas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26864" y="3913632"/>
            <a:ext cx="19751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18304" y="3986784"/>
            <a:ext cx="1792224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 útil do equipamento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aumenta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11696" y="3913632"/>
            <a:ext cx="19751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3986784"/>
            <a:ext cx="1792224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reparos</a:t>
            </a:r>
            <a:endParaRPr lang="en-US" sz="12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menor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— MIMII Pump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24128"/>
            <a:ext cx="3931920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3385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Estruturados (metadados)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51790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extraídos dos paths e do cabeçalho WAV: model_id (4 bombas) · condition (normal/anomaly) · duração · 16 kHz · 8 canais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024128"/>
            <a:ext cx="3931920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13385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estruturados (áudio)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51790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4.205 clipes .wav (10 s · 16 bits · 8 microfones) de bombas reais em fábrica, com ruído real a 0 dB SNR · 7,87 GB · Zenodo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3931920" cy="1691640"/>
          </a:xfrm>
          <a:prstGeom prst="roundRect">
            <a:avLst>
              <a:gd name="adj" fmla="val 29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6700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Desbalanceamento ~8:1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3099450" cy="310896"/>
          </a:xfrm>
          <a:prstGeom prst="rect">
            <a:avLst/>
          </a:prstGeom>
          <a:solidFill>
            <a:srgbClr val="1E9E5A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85250" y="3200400"/>
            <a:ext cx="375270" cy="310896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62656"/>
            <a:ext cx="309945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93810" y="2962656"/>
            <a:ext cx="46671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3584448"/>
            <a:ext cx="309945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3.749</a:t>
            </a:r>
            <a:endParaRPr lang="en-US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89,2% normal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93810" y="3584448"/>
            <a:ext cx="46671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456</a:t>
            </a:r>
            <a:endParaRPr lang="en-US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10,8% anomaly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560320"/>
            <a:ext cx="3931920" cy="1691640"/>
          </a:xfrm>
          <a:prstGeom prst="roundRect">
            <a:avLst>
              <a:gd name="adj" fmla="val 297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67004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por modelo de bomba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999232"/>
          <a:ext cx="35204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22960"/>
                <a:gridCol w="822960"/>
                <a:gridCol w="82296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id_06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315968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4.205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clipes de áudio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2560320" y="4315968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/ clip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663440" y="4315968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bomba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766560" y="4315968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~8:1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: anomalia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da Solução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234440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" y="1307592"/>
            <a:ext cx="1517904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/ S3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874520" y="1613916"/>
            <a:ext cx="137160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93392" y="1234440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48256" y="1307592"/>
            <a:ext cx="1517904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Snowflake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analítico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39312" y="1613916"/>
            <a:ext cx="137160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58184" y="1234440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13048" y="1307592"/>
            <a:ext cx="1517904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04104" y="1613916"/>
            <a:ext cx="137160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22976" y="1234440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77840" y="1307592"/>
            <a:ext cx="1517904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168896" y="1613916"/>
            <a:ext cx="137160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287768" y="1234440"/>
            <a:ext cx="1627632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42632" y="1307592"/>
            <a:ext cx="1517904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</a:t>
            </a:r>
            <a:endParaRPr lang="en-US" sz="11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248716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8F0FE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248716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(ingestão → features → ML) + dbt (staging → dimensões → fatos → mart) · tudo sobe com docker compose up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3931920" cy="1325880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310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— local (Docker)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 ·  PostgreSQL  ·  Airflow (Docker)  ·  Metabase (Docker)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54880" y="3200400"/>
            <a:ext cx="3931920" cy="1325880"/>
          </a:xfrm>
          <a:prstGeom prst="roundRect">
            <a:avLst>
              <a:gd name="adj" fmla="val 379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31012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— 100% AWS + Snowflake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983480" y="3657600"/>
            <a:ext cx="3520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  ·  Snowflake  ·  Airflow em EC2  ·  Metabase em ECS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461772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A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DEV → PROD: apenas 4 variáveis no .env — nenhum código muda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ELT — 9 etapas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16128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61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9264" y="116128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54533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.wav (~7,9 GB), com retomada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81528" y="139903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05156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116128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1161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58184" y="116128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55848" y="154533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.wav para MinIO / AWS S3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70448" y="139903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105156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26480" y="116128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1161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47104" y="116128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44768" y="154533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 → CSV com o target (condition_binary)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24028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235000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350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9264" y="2350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áudio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66928" y="273405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librosa: 92 números por clip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081528" y="258775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46120" y="224028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37560" y="235000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37560" y="2350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758184" y="2350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355848" y="273405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única: 4.205 × 103 colunas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870448" y="258775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224028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235000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235000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47104" y="235000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no banco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144768" y="273405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ml_features_raw no PostgreSQL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42900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353872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35387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69264" y="353872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run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66928" y="392277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→ dim/fact → mart ml_features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081528" y="377647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46120" y="342900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337560" y="353872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37560" y="35387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3758184" y="353872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test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355848" y="392277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testes de qualidade (pára se falhar)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870448" y="3776472"/>
            <a:ext cx="146304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5040" y="3429000"/>
            <a:ext cx="260604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126480" y="3538728"/>
            <a:ext cx="329184" cy="329184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26480" y="35387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6547104" y="3538728"/>
            <a:ext cx="20025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/ avaliação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144768" y="3922776"/>
            <a:ext cx="238658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hard-code + sklearn + relatório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4498848"/>
            <a:ext cx="8229600" cy="347472"/>
          </a:xfrm>
          <a:prstGeom prst="roundRect">
            <a:avLst>
              <a:gd name="adj" fmla="val 21053"/>
            </a:avLst>
          </a:prstGeom>
          <a:solidFill>
            <a:srgbClr val="E3F6F3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" y="449884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 pelo Apache Airflow (DAG etl_pipeline) — agendamento diário ou disparo manual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Modelagem dbt — Snowflake / PostgreSQL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480560" cy="2743200"/>
          </a:xfrm>
          <a:prstGeom prst="roundRect">
            <a:avLst>
              <a:gd name="adj" fmla="val 18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(ELT no banco)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40690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1508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Materialização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stg_pump_metadata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· limpeza/dedup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stg_audio_features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 · cast numeric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dim_machines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· agrega por modelo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fact_audio_analysis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· join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ml_features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 · pronto p/ 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120640" y="1051560"/>
            <a:ext cx="3566160" cy="2743200"/>
          </a:xfrm>
          <a:prstGeom prst="roundRect">
            <a:avLst>
              <a:gd name="adj" fmla="val 18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4924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testes de qualidade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349240" y="1572768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not_null: file_id, condition, condition_binary, total_samples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unique: file_id (staging e fatos)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accepted_values: condition ∈ {normal, anomaly} e binary ∈ {0, 1}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349240" y="278892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E4F6EC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78892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run + dbt test aprovados = evidência de qualidade dos dados entregues ao ML e ao dashboard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E8F0FE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ELT: carrega cru (ml_features_raw) e transforma DENTRO do banco — dev: PostgreSQL · prod: Snowflake (dbt target via env_var)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4626864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Star-schema simplificado: staging (views) → dimensão/fato (tables) → mart pronto para consumo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Som às Features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Áudio .wav</a:t>
            </a:r>
            <a:endParaRPr lang="en-US" sz="14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· 16 kHz · 8 canais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889504" y="1362456"/>
            <a:ext cx="347472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105156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E3F6F3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43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librosa</a:t>
            </a:r>
            <a:endParaRPr lang="en-US" sz="14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 downmix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724144" y="1362456"/>
            <a:ext cx="347472" cy="201168"/>
          </a:xfrm>
          <a:prstGeom prst="rightArrow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05156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143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features</a:t>
            </a:r>
            <a:endParaRPr lang="en-US" sz="140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por clip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14884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2768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 — timbre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features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825496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coeficientes (média + desvio) — a “impressão digital” do som; as mais discriminativas para a 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46120" y="214884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2768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Espectrais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features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2825496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(grave/agudo) · bandwidth · rolloff (85% da energia) · contraste em 7 bandas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035040" y="2148840"/>
            <a:ext cx="26517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2276856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&amp; ritmo</a:t>
            </a:r>
            <a:endParaRPr lang="en-US" sz="1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E8A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features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825496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ZCR (frequência dominante) e RMS (energia) — energia não normalizada, pois é sinal de anomalia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8F0FE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840480"/>
            <a:ext cx="7863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features de áudio + 6 metadados = 96 números por clip · 4.205 linhas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Rastreabilidade: file_id liga cada áudio bruto → features → banco → predição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ML — MLP Binário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900684" y="1280160"/>
            <a:ext cx="95097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0684" y="1828800"/>
            <a:ext cx="95097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0684" y="2377440"/>
            <a:ext cx="95097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0684" y="2926080"/>
            <a:ext cx="95097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0684" y="3474720"/>
            <a:ext cx="95097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8820" y="1280160"/>
            <a:ext cx="960120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88820" y="1828800"/>
            <a:ext cx="960120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88820" y="2377440"/>
            <a:ext cx="960120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8820" y="2926080"/>
            <a:ext cx="960120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88820" y="3474720"/>
            <a:ext cx="960120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86100" y="2377440"/>
            <a:ext cx="1019556" cy="0"/>
          </a:xfrm>
          <a:prstGeom prst="line">
            <a:avLst/>
          </a:prstGeom>
          <a:noFill/>
          <a:ln w="9525">
            <a:solidFill>
              <a:srgbClr val="D9E1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" y="1202436"/>
            <a:ext cx="155448" cy="155448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5236" y="1751076"/>
            <a:ext cx="155448" cy="155448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236" y="2299716"/>
            <a:ext cx="155448" cy="155448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5236" y="2848356"/>
            <a:ext cx="155448" cy="155448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5236" y="3396996"/>
            <a:ext cx="155448" cy="155448"/>
          </a:xfrm>
          <a:prstGeom prst="ellipse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51660" y="1211580"/>
            <a:ext cx="137160" cy="1371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51660" y="1760220"/>
            <a:ext cx="137160" cy="1371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51660" y="2308860"/>
            <a:ext cx="137160" cy="1371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51660" y="2857500"/>
            <a:ext cx="137160" cy="1371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51660" y="3406140"/>
            <a:ext cx="137160" cy="13716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48940" y="1211580"/>
            <a:ext cx="137160" cy="137160"/>
          </a:xfrm>
          <a:prstGeom prst="ellipse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48940" y="1760220"/>
            <a:ext cx="137160" cy="137160"/>
          </a:xfrm>
          <a:prstGeom prst="ellipse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48940" y="2308860"/>
            <a:ext cx="137160" cy="137160"/>
          </a:xfrm>
          <a:prstGeom prst="ellipse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48940" y="2857500"/>
            <a:ext cx="137160" cy="137160"/>
          </a:xfrm>
          <a:prstGeom prst="ellipse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48940" y="3406140"/>
            <a:ext cx="137160" cy="137160"/>
          </a:xfrm>
          <a:prstGeom prst="ellipse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05656" y="2276856"/>
            <a:ext cx="201168" cy="20116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0100" y="3712464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0100" y="3767328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100" y="3822192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897380" y="3712464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7380" y="3767328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97380" y="3822192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94660" y="3712464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94660" y="3767328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94660" y="3822192"/>
            <a:ext cx="45720" cy="45720"/>
          </a:xfrm>
          <a:prstGeom prst="ellipse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39684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37160" y="42062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 features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88720" y="39684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 1 · ReLU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188720" y="42062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neurônios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286000" y="39684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 2 · ReLU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286000" y="42062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neurônios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474720" y="39684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3474720" y="420624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Sigmoid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92040" y="1051560"/>
            <a:ext cx="3794760" cy="3108960"/>
          </a:xfrm>
          <a:prstGeom prst="roundRect">
            <a:avLst>
              <a:gd name="adj" fmla="val 1618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117043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 × Biblioteca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572768"/>
          <a:ext cx="33832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972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Hard-Code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Sklearn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NumPy puro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MLPClassifier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momento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Épocas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~58 (parada cedo)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treino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~2.600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~425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Regularização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(alpha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120640" y="329184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comparados no mesmo split: classe majoritária e regressão logística.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457200" y="4389120"/>
            <a:ext cx="8229600" cy="438912"/>
          </a:xfrm>
          <a:prstGeom prst="roundRect">
            <a:avLst>
              <a:gd name="adj" fmla="val 16667"/>
            </a:avLst>
          </a:prstGeom>
          <a:solidFill>
            <a:srgbClr val="FDF3D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48640" y="4389120"/>
            <a:ext cx="8046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8.321 parâmetros treináveis · Binary Cross-Entropy · ReLU nas ocultas · Sigmoid na saída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no Conjunto de Teste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480560" cy="2788920"/>
          </a:xfrm>
          <a:prstGeom prst="roundRect">
            <a:avLst>
              <a:gd name="adj" fmla="val 18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— teste (841 amostras)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685800"/>
                <a:gridCol w="685800"/>
                <a:gridCol w="6858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Majoritária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89,18%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Reg. Logística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96,79%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95,71%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73,63%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Hard-code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97,86%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96,20%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Sklearn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97,98%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97,44%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83,52%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85800" y="3246120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2461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89,18% de acurácia engana: só prevê “normal” e tem recall 0.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120640" y="1051560"/>
            <a:ext cx="3566160" cy="2788920"/>
          </a:xfrm>
          <a:prstGeom prst="roundRect">
            <a:avLst>
              <a:gd name="adj" fmla="val 180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4924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 (sklearn)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394960" y="1600200"/>
            <a:ext cx="1170432" cy="822960"/>
          </a:xfrm>
          <a:prstGeom prst="rect">
            <a:avLst/>
          </a:prstGeom>
          <a:solidFill>
            <a:srgbClr val="E4F6EC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49824" y="1655064"/>
            <a:ext cx="10607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748</a:t>
            </a:r>
            <a:endParaRPr lang="en-US" sz="1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✓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629400" y="1600200"/>
            <a:ext cx="1170432" cy="822960"/>
          </a:xfrm>
          <a:prstGeom prst="rect">
            <a:avLst/>
          </a:prstGeom>
          <a:solidFill>
            <a:srgbClr val="FDEBEB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84264" y="1655064"/>
            <a:ext cx="10607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· parada extra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394960" y="2514600"/>
            <a:ext cx="1170432" cy="822960"/>
          </a:xfrm>
          <a:prstGeom prst="rect">
            <a:avLst/>
          </a:prstGeom>
          <a:solidFill>
            <a:srgbClr val="FDEBEB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9824" y="2569464"/>
            <a:ext cx="10607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· falha não vista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629400" y="2514600"/>
            <a:ext cx="1170432" cy="822960"/>
          </a:xfrm>
          <a:prstGeom prst="rect">
            <a:avLst/>
          </a:prstGeom>
          <a:solidFill>
            <a:srgbClr val="E4F6EC"/>
          </a:solidFill>
          <a:ln w="12700">
            <a:solidFill>
              <a:srgbClr val="1E9E5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84264" y="2569464"/>
            <a:ext cx="106070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9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anomalia ✓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5394960" y="336499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Predito →  normal | anomalia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5230368" y="1783080"/>
            <a:ext cx="2926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↓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57200" y="402336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97,98%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(MLP sklearn)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2560320" y="402336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83,5%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 anomalia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663440" y="402336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negativos (erro dominante)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766560" y="4023360"/>
            <a:ext cx="2103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 positivos (paradas extras)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7200" y="457200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Amostras de teste: 750 normais + 91 anomalias (split estratificado 80/20)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Metabase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5176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978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Visão Geral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1655064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amostras e taxa de anomalia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normal × anomalia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Anomalias por modelo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5176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1978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Análise por Modelo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1655064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por modelo (dim_machines)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MFCC-1 e spectral centroid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maior energia (RMS)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51760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19786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Resultados do ML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655064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e métricas dos 4 modelos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Predições com erro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3F6F3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24612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analítico por modelo de máquina ({{model_id}}) · painéis criados automaticamente via API (1 comando)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E8F0FE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apoia a decisão: o engenheiro filtra a bomba de interesse, prioriza amostras de alta energia (RMS) para inspeção e consulta a confiabilidade do classificador antes de agendar a parada.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roundRect">
            <a:avLst>
              <a:gd name="adj" fmla="val 13793"/>
            </a:avLst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84048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88720" y="347472"/>
            <a:ext cx="75895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— AWS &amp; Snowflake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457200" y="486460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Pós-IA · Módulo 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366760" y="4864608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2743200"/>
          </a:xfrm>
          <a:prstGeom prst="roundRect">
            <a:avLst>
              <a:gd name="adj" fmla="val 18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F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(IaC)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572768"/>
            <a:ext cx="352044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buckets raw e processed (versionados)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+ sub-redes pública/privada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t3.medium: Airflow + scripts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SageMaker: treino do MLP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CloudWatch: logs com retenção de 30 dias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IAM: roles de menor privilégio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em ECS Fargate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743200"/>
          </a:xfrm>
          <a:prstGeom prst="roundRect">
            <a:avLst>
              <a:gd name="adj" fmla="val 1833"/>
            </a:avLst>
          </a:prstGeom>
          <a:solidFill>
            <a:srgbClr val="FFFFFF"/>
          </a:solidFill>
          <a:ln w="12700">
            <a:solidFill>
              <a:srgbClr val="D9E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116128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F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→ Prod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627632"/>
          <a:ext cx="35204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920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(Docker)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Produção (AWS)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Snowflake (dbt target)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 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 em EC2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Metabase local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Metabase em ECS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4983480" y="32918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só troca 4 variáveis no .env (boto3 endpoint + dbt target)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DF3D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acadêmico (~176 h/mês):  </a:t>
            </a:r>
            <a:pPr algn="ctr"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~US$20 + Snowflake ~US$20 ≈ US$40/mês · deploy com um comando CloudFormation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Próximos Passos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3063240"/>
          </a:xfrm>
          <a:prstGeom prst="roundRect">
            <a:avLst>
              <a:gd name="adj" fmla="val 209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ELT completo e reprodutível (9 etapas)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binário hard-code do zero (NumPy) + sklearn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97,98% de acurácia · recall de anomalia 83,5%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de áudio 100% autorais (librosa)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Metabase com filtro analítico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switch dev → prod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754880" y="1143000"/>
            <a:ext cx="3931920" cy="3063240"/>
          </a:xfrm>
          <a:prstGeom prst="roundRect">
            <a:avLst>
              <a:gd name="adj" fmla="val 209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8348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83480" y="1691640"/>
            <a:ext cx="35204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real em AWS + Snowflake (evidências)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tipos de máquina: fan, valve, slider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cruzada + early stopping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 + monitoramento de drift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nos áudios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threshold por criticidade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2743200" y="4655028"/>
            <a:ext cx="121730" cy="35844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96934" y="4624304"/>
            <a:ext cx="121730" cy="66568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0667" y="4588459"/>
            <a:ext cx="121730" cy="102413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4401" y="4562856"/>
            <a:ext cx="121730" cy="128016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58134" y="4583339"/>
            <a:ext cx="121730" cy="107533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11868" y="4614062"/>
            <a:ext cx="121730" cy="76810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65601" y="4639666"/>
            <a:ext cx="121730" cy="5120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19335" y="4649907"/>
            <a:ext cx="121730" cy="40965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3068" y="4624304"/>
            <a:ext cx="121730" cy="66568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6802" y="4588459"/>
            <a:ext cx="121730" cy="102413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80535" y="4557735"/>
            <a:ext cx="121730" cy="133137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34269" y="4603821"/>
            <a:ext cx="121730" cy="87051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8002" y="4644786"/>
            <a:ext cx="121730" cy="46086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1736" y="4655028"/>
            <a:ext cx="121730" cy="35844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95469" y="4619183"/>
            <a:ext cx="121730" cy="71689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49203" y="4578218"/>
            <a:ext cx="121730" cy="112654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02936" y="4547494"/>
            <a:ext cx="121730" cy="143378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56669" y="4573097"/>
            <a:ext cx="121730" cy="117775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10403" y="4614062"/>
            <a:ext cx="121730" cy="76810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4137" y="4639666"/>
            <a:ext cx="121730" cy="51206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17870" y="4603821"/>
            <a:ext cx="121730" cy="87051"/>
          </a:xfrm>
          <a:prstGeom prst="rect">
            <a:avLst/>
          </a:prstGeom>
          <a:solidFill>
            <a:srgbClr val="0B2F6B"/>
          </a:solidFill>
          <a:ln w="12700">
            <a:solidFill>
              <a:srgbClr val="0B2F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71604" y="4567977"/>
            <a:ext cx="121730" cy="122895"/>
          </a:xfrm>
          <a:prstGeom prst="rect">
            <a:avLst/>
          </a:prstGeom>
          <a:solidFill>
            <a:srgbClr val="0F6FDE"/>
          </a:solidFill>
          <a:ln w="12700">
            <a:solidFill>
              <a:srgbClr val="0F6F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5337" y="4542373"/>
            <a:ext cx="121730" cy="148499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9071" y="4593580"/>
            <a:ext cx="121730" cy="97292"/>
          </a:xfrm>
          <a:prstGeom prst="rect">
            <a:avLst/>
          </a:prstGeom>
          <a:solidFill>
            <a:srgbClr val="E8A20C"/>
          </a:solidFill>
          <a:ln w="12700">
            <a:solidFill>
              <a:srgbClr val="E8A20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46177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· Docker · Airflow · dbt · PostgreSQL · MinIO · Metabase · AWS · Snowflake · librosa · scikit-learn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14400" y="48463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Disciplinas: Aprendizagem de Máquina · Cloud Computing · Modelagem de Dados para IA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Manutenção Preditiva Industrial com Som</dc:title>
  <dc:subject>PptxGenJS Presentation</dc:subject>
  <dc:creator>IFG — Pós-IA Módulo 2</dc:creator>
  <cp:lastModifiedBy>IFG — Pós-IA Módulo 2</cp:lastModifiedBy>
  <cp:revision>1</cp:revision>
  <dcterms:created xsi:type="dcterms:W3CDTF">2026-08-06T00:49:47Z</dcterms:created>
  <dcterms:modified xsi:type="dcterms:W3CDTF">2026-08-06T00:49:47Z</dcterms:modified>
</cp:coreProperties>
</file>