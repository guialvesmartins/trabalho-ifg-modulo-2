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91440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188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PREVISÃO DE SATISFAÇÃO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187452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 E-commerce com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Dados Multimodais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640080" y="3383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+ Imagens + Dados Estruturados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3977640"/>
            <a:ext cx="22860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4206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IFG · Pós-Graduação em Inteligência Artificial Aplicada · Módulo 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Problema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3840480" cy="15544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64008" cy="15544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411480" cy="411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Contexto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31520" y="1691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marketplace recebe milhares de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produtos. O gerente precisa decidir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precisam de intervenção antes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as vendas caiam.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846320" y="1097280"/>
            <a:ext cx="3840480" cy="15544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46320" y="1097280"/>
            <a:ext cx="64008" cy="15544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28016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71500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Solução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120640" y="1691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IA que prevê a nota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 a 5 estrelas) que um produto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receberá, analisando o anúncio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mesmo de ser publicado.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926080"/>
            <a:ext cx="8229600" cy="16459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3152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Como funciona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731520" y="3520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+ Categoria  </a:t>
            </a:r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</a:t>
            </a:r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da Review  </a:t>
            </a:r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</a:t>
            </a:r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do Produto  </a:t>
            </a:r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prevê:  </a:t>
            </a:r>
            <a:pPr indent="0" marL="0">
              <a:buNone/>
            </a:pPr>
            <a:r>
              <a:rPr lang="en-US" sz="1400" b="1" dirty="0">
                <a:solidFill>
                  <a:srgbClr val="EAB3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1⭐   2⭐   3⭐   4⭐   5⭐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731520" y="40690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gerente age ANTES do problema — ajusta preço, melhora a foto, revisa a descrição.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 Dados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265176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64008" cy="20116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34440" y="1280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Estruturados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18288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Preço, desconto, categoria,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avaliações anteriores.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features numéricas.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91840" y="1097280"/>
            <a:ext cx="265176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91840" y="1097280"/>
            <a:ext cx="64008" cy="20116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128016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069080" y="1280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Texto (NLP)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566160" y="18288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 e conteúdo da review.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Sentimento, palavras-chave.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features textuais.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26480" y="1097280"/>
            <a:ext cx="265176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126480" y="1097280"/>
            <a:ext cx="64008" cy="20116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8016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903720" y="1280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Imagem (CV)</a:t>
            </a:r>
            <a:endParaRPr lang="en-US" sz="1500" dirty="0"/>
          </a:p>
        </p:txBody>
      </p:sp>
      <p:sp>
        <p:nvSpPr>
          <p:cNvPr id="20" name="Text 15"/>
          <p:cNvSpPr/>
          <p:nvPr/>
        </p:nvSpPr>
        <p:spPr>
          <a:xfrm>
            <a:off x="6400800" y="182880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 do produto.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Nitidez, brilho, cores.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 features visuais.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731520" y="3520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Dataset: Amazon Sales (Kaggle)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3152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1.351</a:t>
            </a:r>
            <a:endParaRPr lang="en-US" sz="2800" dirty="0"/>
          </a:p>
        </p:txBody>
      </p:sp>
      <p:sp>
        <p:nvSpPr>
          <p:cNvPr id="24" name="Text 19"/>
          <p:cNvSpPr/>
          <p:nvPr/>
        </p:nvSpPr>
        <p:spPr>
          <a:xfrm>
            <a:off x="731520" y="4389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Produtos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74320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1.194</a:t>
            </a:r>
            <a:endParaRPr lang="en-US" sz="2800" dirty="0"/>
          </a:p>
        </p:txBody>
      </p:sp>
      <p:sp>
        <p:nvSpPr>
          <p:cNvPr id="26" name="Text 21"/>
          <p:cNvSpPr/>
          <p:nvPr/>
        </p:nvSpPr>
        <p:spPr>
          <a:xfrm>
            <a:off x="2743200" y="4389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75488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500</a:t>
            </a:r>
            <a:endParaRPr lang="en-US" sz="2800" dirty="0"/>
          </a:p>
        </p:txBody>
      </p:sp>
      <p:sp>
        <p:nvSpPr>
          <p:cNvPr id="28" name="Text 23"/>
          <p:cNvSpPr/>
          <p:nvPr/>
        </p:nvSpPr>
        <p:spPr>
          <a:xfrm>
            <a:off x="4754880" y="4389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processadas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766560" y="39319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87</a:t>
            </a:r>
            <a:endParaRPr lang="en-US" sz="2800" dirty="0"/>
          </a:p>
        </p:txBody>
      </p:sp>
      <p:sp>
        <p:nvSpPr>
          <p:cNvPr id="30" name="Text 25"/>
          <p:cNvSpPr/>
          <p:nvPr/>
        </p:nvSpPr>
        <p:spPr>
          <a:xfrm>
            <a:off x="6766560" y="43891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modelo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Arquitetura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188720"/>
            <a:ext cx="1828800" cy="1371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188720"/>
            <a:ext cx="18288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71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Armazenamento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(S3 mock)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377440" y="1188720"/>
            <a:ext cx="1828800" cy="1371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377440" y="1188720"/>
            <a:ext cx="18288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2377440" y="1371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PostgreSQL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468880" y="1783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dados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(Snowflake mock)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1188720"/>
            <a:ext cx="1828800" cy="1371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9120" y="1188720"/>
            <a:ext cx="182880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6" name="Text 14"/>
          <p:cNvSpPr/>
          <p:nvPr/>
        </p:nvSpPr>
        <p:spPr>
          <a:xfrm>
            <a:off x="4389120" y="1371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Airflow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480560" y="1783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Orquestrador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(DAG 8 etapas)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0" y="1188720"/>
            <a:ext cx="1828800" cy="1371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50800" dist="12700" dir="810000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0" y="1188720"/>
            <a:ext cx="1828800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0" y="1371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Metabase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92240" y="1783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 painéis)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834640"/>
            <a:ext cx="8229600" cy="10972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31520" y="2926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Scripts (ingestão, NLP, CV, ML)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3291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dbt-core: staging → dimensões → fatos → tabela ML pronta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657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sobe com: docker compose up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4206240"/>
            <a:ext cx="8229600" cy="640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731520" y="427939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DEV → PROD:  4 variáveis no .env   |   MinIO → AWS S3   |   PostgreSQL → Snowflake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ELT (8 Etapas)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645920"/>
            <a:ext cx="77724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645920"/>
            <a:ext cx="77724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6916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20116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91B2"/>
                </a:solidFill>
              </a:rPr>
              <a:t>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08760" y="1645920"/>
            <a:ext cx="77724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508760" y="1645920"/>
            <a:ext cx="77724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1"/>
          <p:cNvSpPr/>
          <p:nvPr/>
        </p:nvSpPr>
        <p:spPr>
          <a:xfrm>
            <a:off x="1508760" y="16916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08760" y="20116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286000" y="193852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91B2"/>
                </a:solidFill>
              </a:rPr>
              <a:t>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77724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514600" y="1645920"/>
            <a:ext cx="77724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2514600" y="16916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514600" y="20116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291840" y="193852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91B2"/>
                </a:solidFill>
              </a:rPr>
              <a:t>→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20440" y="1188720"/>
            <a:ext cx="77724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520440" y="1188720"/>
            <a:ext cx="77724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3520440" y="12344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520440" y="15544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26280" y="1188720"/>
            <a:ext cx="77724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26280" y="1188720"/>
            <a:ext cx="77724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5"/>
          <p:cNvSpPr/>
          <p:nvPr/>
        </p:nvSpPr>
        <p:spPr>
          <a:xfrm>
            <a:off x="4526280" y="12344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4b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26280" y="15544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532120" y="1645920"/>
            <a:ext cx="77724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532120" y="1645920"/>
            <a:ext cx="77724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1" name="Text 29"/>
          <p:cNvSpPr/>
          <p:nvPr/>
        </p:nvSpPr>
        <p:spPr>
          <a:xfrm>
            <a:off x="5532120" y="16916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532120" y="20116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309360" y="193852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91B2"/>
                </a:solidFill>
              </a:rPr>
              <a:t>→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37960" y="1645920"/>
            <a:ext cx="77724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537960" y="1645920"/>
            <a:ext cx="77724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4"/>
          <p:cNvSpPr/>
          <p:nvPr/>
        </p:nvSpPr>
        <p:spPr>
          <a:xfrm>
            <a:off x="6537960" y="16916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537960" y="20116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315200" y="193852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91B2"/>
                </a:solidFill>
              </a:rPr>
              <a:t>→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7543800" y="1645920"/>
            <a:ext cx="777240" cy="7772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38100" dist="12700" dir="8100000">
              <a:srgbClr val="000000">
                <a:alpha val="15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7543800" y="1645920"/>
            <a:ext cx="777240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1" name="Text 39"/>
          <p:cNvSpPr/>
          <p:nvPr/>
        </p:nvSpPr>
        <p:spPr>
          <a:xfrm>
            <a:off x="7543800" y="169164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7543800" y="201168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474720" y="1143000"/>
            <a:ext cx="1920240" cy="868680"/>
          </a:xfrm>
          <a:prstGeom prst="rect">
            <a:avLst/>
          </a:prstGeom>
          <a:solidFill>
            <a:srgbClr val="0D9488">
              <a:alpha val="1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57200" y="2560320"/>
            <a:ext cx="8229600" cy="5943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31520" y="26060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NLP e CV rodam em paralelo (independência entre texto e imagem)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" y="3383280"/>
            <a:ext cx="8229600" cy="9144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731520" y="34564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Orquestração — Apache Airflow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731520" y="3822192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 (Directed Acyclic Graph): arquivo Python que define o que roda, em qual ordem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com quais dependências. Agenda diária ou execução manual.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NLP &amp; Visão Computacional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3840480" cy="21945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64008" cy="219456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NLP — Análise de Texto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17373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VADER: sentimento do texto (-1 a +1)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palavras mais importantes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Regex: detecta reclamação, elogio,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menção a preço e entrega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46320" y="1097280"/>
            <a:ext cx="3840480" cy="21945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46320" y="1097280"/>
            <a:ext cx="64008" cy="219456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28016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6928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CV — Análise de Imagem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5120640" y="17373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OpenCV: nitidez, brilho, saturação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Canny Edge: densidade de bordas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Hipótese: fotos escuras ou borradas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estão ligadas a ratings piores?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3566160"/>
            <a:ext cx="8229600" cy="128016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31520" y="3657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500 fotos de produtos processadas com OpenCV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3152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300x300</a:t>
            </a: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731520" y="4389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347472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158.6</a:t>
            </a:r>
            <a:endParaRPr lang="en-US" sz="2200" dirty="0"/>
          </a:p>
        </p:txBody>
      </p:sp>
      <p:sp>
        <p:nvSpPr>
          <p:cNvPr id="21" name="Text 17"/>
          <p:cNvSpPr/>
          <p:nvPr/>
        </p:nvSpPr>
        <p:spPr>
          <a:xfrm>
            <a:off x="3474720" y="4389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Brilho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6217920" y="40233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1.234</a:t>
            </a:r>
            <a:endParaRPr lang="en-US" sz="2200" dirty="0"/>
          </a:p>
        </p:txBody>
      </p:sp>
      <p:sp>
        <p:nvSpPr>
          <p:cNvPr id="23" name="Text 19"/>
          <p:cNvSpPr/>
          <p:nvPr/>
        </p:nvSpPr>
        <p:spPr>
          <a:xfrm>
            <a:off x="6217920" y="4389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 score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Machine Learning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384048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64008" cy="20116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Naive Bayes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31520" y="16916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Classificação multiclasse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Prevê rating de 1 a 5 estrelas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em ~87 features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combinando texto + imagem + preço.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46320" y="1097280"/>
            <a:ext cx="384048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46320" y="1097280"/>
            <a:ext cx="64008" cy="201168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28016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6928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Dupla implementação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120640" y="1691640"/>
            <a:ext cx="3383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Hard-code: algoritmo do zero
  (Python puro + NumPy)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Sklearn: MultinomialNB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(biblioteca scikit-learn)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57200" y="3383280"/>
            <a:ext cx="8229600" cy="14630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31520" y="3474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Comparação &amp; Métricas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886200"/>
            <a:ext cx="22860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9" name="Shape 15"/>
          <p:cNvSpPr/>
          <p:nvPr/>
        </p:nvSpPr>
        <p:spPr>
          <a:xfrm>
            <a:off x="731520" y="3886200"/>
            <a:ext cx="54864" cy="3657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Text 16"/>
          <p:cNvSpPr/>
          <p:nvPr/>
        </p:nvSpPr>
        <p:spPr>
          <a:xfrm>
            <a:off x="868680" y="3886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Acurácia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3474720" y="3886200"/>
            <a:ext cx="22860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2" name="Shape 18"/>
          <p:cNvSpPr/>
          <p:nvPr/>
        </p:nvSpPr>
        <p:spPr>
          <a:xfrm>
            <a:off x="3474720" y="3886200"/>
            <a:ext cx="54864" cy="3657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3" name="Text 19"/>
          <p:cNvSpPr/>
          <p:nvPr/>
        </p:nvSpPr>
        <p:spPr>
          <a:xfrm>
            <a:off x="3611880" y="3886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Precisão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217920" y="3886200"/>
            <a:ext cx="22860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5" name="Shape 21"/>
          <p:cNvSpPr/>
          <p:nvPr/>
        </p:nvSpPr>
        <p:spPr>
          <a:xfrm>
            <a:off x="6217920" y="3886200"/>
            <a:ext cx="54864" cy="3657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2"/>
          <p:cNvSpPr/>
          <p:nvPr/>
        </p:nvSpPr>
        <p:spPr>
          <a:xfrm>
            <a:off x="6355080" y="3886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31520" y="4343400"/>
            <a:ext cx="22860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8" name="Shape 24"/>
          <p:cNvSpPr/>
          <p:nvPr/>
        </p:nvSpPr>
        <p:spPr>
          <a:xfrm>
            <a:off x="731520" y="4343400"/>
            <a:ext cx="54864" cy="3657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9" name="Text 25"/>
          <p:cNvSpPr/>
          <p:nvPr/>
        </p:nvSpPr>
        <p:spPr>
          <a:xfrm>
            <a:off x="868680" y="4343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3474720" y="4343400"/>
            <a:ext cx="22860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1" name="Shape 27"/>
          <p:cNvSpPr/>
          <p:nvPr/>
        </p:nvSpPr>
        <p:spPr>
          <a:xfrm>
            <a:off x="3474720" y="4343400"/>
            <a:ext cx="54864" cy="3657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4343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de Confusão</a:t>
            </a:r>
            <a:endParaRPr lang="en-US" sz="1100" dirty="0"/>
          </a:p>
        </p:txBody>
      </p:sp>
      <p:sp>
        <p:nvSpPr>
          <p:cNvPr id="33" name="Shape 29"/>
          <p:cNvSpPr/>
          <p:nvPr/>
        </p:nvSpPr>
        <p:spPr>
          <a:xfrm>
            <a:off x="6217920" y="4343400"/>
            <a:ext cx="2286000" cy="36576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4" name="Shape 30"/>
          <p:cNvSpPr/>
          <p:nvPr/>
        </p:nvSpPr>
        <p:spPr>
          <a:xfrm>
            <a:off x="6217920" y="4343400"/>
            <a:ext cx="54864" cy="3657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5" name="Text 31"/>
          <p:cNvSpPr/>
          <p:nvPr/>
        </p:nvSpPr>
        <p:spPr>
          <a:xfrm>
            <a:off x="6355080" y="43434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de Treino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 — Metabase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502920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64008" cy="36576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Resumo Executivo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73736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KPIs no topo: total de produtos,
  rating médio, % reviews negativas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Gráfico: rating por categoria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Gráfico: polaridade (sentimento)
  do texto vs rating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Tabela: top 10 piores produtos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 mais relevantes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para reviews nota 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1097280"/>
            <a:ext cx="2743200" cy="36576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3716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Configuração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automática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17920" y="2286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com banco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perguntas SQL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montado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1 comando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217920" y="42062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make up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05840" y="2286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Nuvem — AWS &amp; Snowflake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109728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097280"/>
            <a:ext cx="3840480" cy="2286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97280"/>
            <a:ext cx="64008" cy="228600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80160" y="1234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CloudFormation (YAML)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" y="173736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armazenamento de dados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EC2: servidor do Airflow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ECS: containers dbt + scripts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SageMaker: treino do modelo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Redshift: data warehouse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846320" y="1097280"/>
            <a:ext cx="3840480" cy="2286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846320" y="1097280"/>
            <a:ext cx="64008" cy="22860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5120640" y="12344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  →  Prod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120640" y="1645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variáveis no .env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212080" y="2103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 (local)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583680" y="21031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949440" y="2103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S3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212080" y="24048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583680" y="240487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949440" y="240487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Snowflake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212080" y="27066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local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583680" y="27066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949440" y="270662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212080" y="3008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Metabase local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583680" y="300837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949440" y="30083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QuickSight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3657600"/>
            <a:ext cx="8229600" cy="118872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731520" y="37490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Nenhum código muda. Só o destino dos dados.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731520" y="416052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Python: boto3 (compatível MinIO e S3)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dbt: profiles.yml com targets dev (Postgres) e prod (Snowflake)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trocar o .env e rodar make pipeline novamente.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A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Conclusão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371600" cy="3657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280160"/>
            <a:ext cx="3840480" cy="2286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80160"/>
            <a:ext cx="64008" cy="22860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417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Entregue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ELT completo (8 etapas)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+ Visão Computacional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hard-code + sklearn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Metabase automático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+ integração AWS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280160"/>
            <a:ext cx="3840480" cy="228600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1280160"/>
            <a:ext cx="64008" cy="22860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5120640" y="1417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Próximos passos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120640" y="182880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modelo com dados reais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com mais notas extremas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Balanceamento de classes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final + apresentação
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com S3 e Snowflake reais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8229600" cy="100584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76200" dist="25400" dir="810000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8862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Stack: Python · Docker · Airflow · dbt · PostgreSQL · MinIO · Metabase · AWS · Snowflake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Disciplinas: Aprendizagem de Máquina · Cloud Computing · Modelagem de Dados para IA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52628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IFG — Pós-Graduação em Inteligência Artificial Aplicada — Módulo 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Previsao de Satisfacao em E-commerce</dc:title>
  <dc:subject>PptxGenJS Presentation</dc:subject>
  <dc:creator>IFG - Pos IA Aplicada</dc:creator>
  <cp:lastModifiedBy>IFG - Pos IA Aplicada</cp:lastModifiedBy>
  <cp:revision>1</cp:revision>
  <dcterms:created xsi:type="dcterms:W3CDTF">2026-07-29T22:38:41Z</dcterms:created>
  <dcterms:modified xsi:type="dcterms:W3CDTF">2026-07-29T22:38:41Z</dcterms:modified>
</cp:coreProperties>
</file>